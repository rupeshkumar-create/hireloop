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2541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job-search operating system for remote workers.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548640" cy="22860"/>
          </a:xfrm>
          <a:prstGeom prst="rect">
            <a:avLst/>
          </a:prstGeom>
          <a:solidFill>
            <a:srgbClr val="C254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/ Executive Brief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45336" y="374904"/>
            <a:ext cx="73152" cy="73152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0973"/>
          </a:xfrm>
          <a:prstGeom prst="rect">
            <a:avLst/>
          </a:prstGeom>
          <a:solidFill>
            <a:srgbClr val="EDE7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job search is broken.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spend 5+ hours a week scrolling listings across LinkedIn, Indeed, and dozens of ATS portals.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“Remote” jobs are silently region-locked — a candidate in India keeps seeing US-only roles they can’t apply 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Tailoring resumes, drafting cold emails, and prepping for interviews are all manual, repetitive, and slow.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(LinkedIn, Otta, Wellfound) are job feeds — not a job-search operating system.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45336" y="374904"/>
            <a:ext cx="73152" cy="73152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0973"/>
          </a:xfrm>
          <a:prstGeom prst="rect">
            <a:avLst/>
          </a:prstGeom>
          <a:solidFill>
            <a:srgbClr val="EDE7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guided loop — from resume to interview.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246888" cy="246888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368296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 (once).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706624"/>
            <a:ext cx="246888" cy="246888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697480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66090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3 career paths (AI suggests them).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035808"/>
            <a:ext cx="246888" cy="246888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2666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99008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runs automatically — every morning and on demand.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364992"/>
            <a:ext cx="246888" cy="246888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55848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3192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daily matches filtered for your region.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694176"/>
            <a:ext cx="246888" cy="246888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8503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64845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best job — AI application kit auto-generates.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023360"/>
            <a:ext cx="246888" cy="246888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014216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977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send, track status — all in one place.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BEFE5"/>
          </a:solidFill>
          <a:ln w="9525">
            <a:solidFill>
              <a:srgbClr val="C254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event </a:t>
            </a:r>
            <a:pPr indent="0" marL="0">
              <a:buNone/>
            </a:pPr>
            <a:r>
              <a:rPr lang="en-US" sz="13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user saves a real match  AND  generates an application asset.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45336" y="374904"/>
            <a:ext cx="73152" cy="73152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0973"/>
          </a:xfrm>
          <a:prstGeom prst="rect">
            <a:avLst/>
          </a:prstGeom>
          <a:solidFill>
            <a:srgbClr val="EDE7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Eight-stage matching engine.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2093976"/>
            <a:ext cx="219456" cy="219456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93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20574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Queries  </a:t>
            </a:r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search queries from resume + career paths.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404872"/>
            <a:ext cx="219456" cy="219456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04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236829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Harvester  </a:t>
            </a:r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jobs from Greenhouse, Lever, Apify, Perplexity, LinkedIn.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715768"/>
            <a:ext cx="219456" cy="219456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7157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6791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 </a:t>
            </a:r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matching across runs to avoid repeats.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026664"/>
            <a:ext cx="219456" cy="219456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266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" y="29900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Filters  </a:t>
            </a:r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Remote-only, region eligibility, salary floor, freshness (≤7d).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337560"/>
            <a:ext cx="219456" cy="219456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337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" y="33009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Enrichment + Scoring  </a:t>
            </a:r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scores each job against the candidate’s resume.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648456"/>
            <a:ext cx="219456" cy="219456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648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3611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Ranking  </a:t>
            </a:r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of AI fit + freshness + ATS quality + hot signals.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959352"/>
            <a:ext cx="219456" cy="219456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959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9227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Selection  </a:t>
            </a:r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jobs preferred. Top-N kept for the day.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270248"/>
            <a:ext cx="219456" cy="219456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270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" y="423367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to Firestore  </a:t>
            </a:r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snapshot for instant load on the dashboard.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 nightly via GitHub Actions cron + on-demand via Vercel API.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45336" y="374904"/>
            <a:ext cx="73152" cy="73152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0973"/>
          </a:xfrm>
          <a:prstGeom prst="rect">
            <a:avLst/>
          </a:prstGeom>
          <a:solidFill>
            <a:srgbClr val="EDE7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one-click assistants per matched job.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D"/>
            </a:solidFill>
            <a:prstDash val="solid"/>
          </a:ln>
          <a:effectLst>
            <a:outerShdw sx="100000" sy="100000" kx="0" ky="0" algn="bl" rotWithShape="0" blurRad="177800" dist="38100" dir="5400000">
              <a:srgbClr val="1A1814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54864" cy="1005840"/>
          </a:xfrm>
          <a:prstGeom prst="rect">
            <a:avLst/>
          </a:prstGeom>
          <a:solidFill>
            <a:srgbClr val="C2541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04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Email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8072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outreach that opens in Gmail with a tailored resume attached.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24028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D"/>
            </a:solidFill>
            <a:prstDash val="solid"/>
          </a:ln>
          <a:effectLst>
            <a:outerShdw sx="100000" sy="100000" kx="0" ky="0" algn="bl" rotWithShape="0" blurRad="177800" dist="38100" dir="5400000">
              <a:srgbClr val="1A1814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240280"/>
            <a:ext cx="54864" cy="1005840"/>
          </a:xfrm>
          <a:prstGeom prst="rect">
            <a:avLst/>
          </a:prstGeom>
          <a:solidFill>
            <a:srgbClr val="C2541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404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Resume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8072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ATS-aware rewrite, downloadable as PDF or DOCX.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D"/>
            </a:solidFill>
            <a:prstDash val="solid"/>
          </a:ln>
          <a:effectLst>
            <a:outerShdw sx="100000" sy="100000" kx="0" ky="0" algn="bl" rotWithShape="0" blurRad="177800" dist="38100" dir="5400000">
              <a:srgbClr val="1A1814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29000"/>
            <a:ext cx="54864" cy="1005840"/>
          </a:xfrm>
          <a:prstGeom prst="rect">
            <a:avLst/>
          </a:prstGeom>
          <a:solidFill>
            <a:srgbClr val="C2541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935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39959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question bank with model answers.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42900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D"/>
            </a:solidFill>
            <a:prstDash val="solid"/>
          </a:ln>
          <a:effectLst>
            <a:outerShdw sx="100000" sy="100000" kx="0" ky="0" algn="bl" rotWithShape="0" blurRad="177800" dist="38100" dir="5400000">
              <a:srgbClr val="1A1814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429000"/>
            <a:ext cx="54864" cy="1005840"/>
          </a:xfrm>
          <a:prstGeom prst="rect">
            <a:avLst/>
          </a:prstGeom>
          <a:solidFill>
            <a:srgbClr val="C2541F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5935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Insights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39959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Market-data-grounded compensation guidance.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 is editable and persisted to the tracked job.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45336" y="374904"/>
            <a:ext cx="73152" cy="73152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0973"/>
          </a:xfrm>
          <a:prstGeom prst="rect">
            <a:avLst/>
          </a:prstGeom>
          <a:solidFill>
            <a:srgbClr val="EDE7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means actually remote — for the candidate’s region.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“remote” listings have hidden geographic restrictions (“Remote — US only”, “EST timezone”).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 parses each listing’s location string + job description for region clauses.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against the user’s country, derived from resume + timezone.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ineligible roles at three checkpoints: query, harvest, and read-time.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BEFE5"/>
          </a:solidFill>
          <a:ln w="9525">
            <a:solidFill>
              <a:srgbClr val="C254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India-based candidate sees </a:t>
            </a:r>
            <a:pPr indent="0" marL="0">
              <a:buNone/>
            </a:pPr>
            <a:r>
              <a:rPr lang="en-US" sz="14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</a:t>
            </a:r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US-only “remote” roles. Period.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45336" y="374904"/>
            <a:ext cx="73152" cy="73152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0973"/>
          </a:xfrm>
          <a:prstGeom prst="rect">
            <a:avLst/>
          </a:prstGeom>
          <a:solidFill>
            <a:srgbClr val="EDE7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Pragmatic, modern, deployable today.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267919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D"/>
            </a:solidFill>
            <a:prstDash val="solid"/>
          </a:ln>
          <a:effectLst>
            <a:outerShdw sx="100000" sy="100000" kx="0" ky="0" algn="bl" rotWithShape="0" blurRad="177800" dist="38100" dir="5400000">
              <a:srgbClr val="1A1814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48840"/>
            <a:ext cx="2679192" cy="54864"/>
          </a:xfrm>
          <a:prstGeom prst="rect">
            <a:avLst/>
          </a:prstGeom>
          <a:solidFill>
            <a:srgbClr val="C2541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5000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2313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 build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framer-motion, lucide-react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html2canvas-pro + jsPDF + docx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55264" y="2148840"/>
            <a:ext cx="267919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D"/>
            </a:solidFill>
            <a:prstDash val="solid"/>
          </a:ln>
          <a:effectLst>
            <a:outerShdw sx="100000" sy="100000" kx="0" ky="0" algn="bl" rotWithShape="0" blurRad="177800" dist="38100" dir="5400000">
              <a:srgbClr val="1A1814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55264" y="2148840"/>
            <a:ext cx="2679192" cy="54864"/>
          </a:xfrm>
          <a:prstGeom prst="rect">
            <a:avLst/>
          </a:prstGeom>
          <a:solidFill>
            <a:srgbClr val="C2541F"/>
          </a:solidFill>
          <a:ln/>
        </p:spPr>
      </p:sp>
      <p:sp>
        <p:nvSpPr>
          <p:cNvPr id="14" name="Text 12"/>
          <p:cNvSpPr/>
          <p:nvPr/>
        </p:nvSpPr>
        <p:spPr>
          <a:xfrm>
            <a:off x="3483864" y="235000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Infra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83864" y="2834640"/>
            <a:ext cx="2313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API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(data)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(users)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cron — nightly Scout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hosting + CDN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53328" y="2148840"/>
            <a:ext cx="267919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D"/>
            </a:solidFill>
            <a:prstDash val="solid"/>
          </a:ln>
          <a:effectLst>
            <a:outerShdw sx="100000" sy="100000" kx="0" ky="0" algn="bl" rotWithShape="0" blurRad="177800" dist="38100" dir="5400000">
              <a:srgbClr val="1A1814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53328" y="2148840"/>
            <a:ext cx="2679192" cy="54864"/>
          </a:xfrm>
          <a:prstGeom prst="rect">
            <a:avLst/>
          </a:prstGeom>
          <a:solidFill>
            <a:srgbClr val="C2541F"/>
          </a:solidFill>
          <a:ln/>
        </p:spPr>
      </p:sp>
      <p:sp>
        <p:nvSpPr>
          <p:cNvPr id="18" name="Text 16"/>
          <p:cNvSpPr/>
          <p:nvPr/>
        </p:nvSpPr>
        <p:spPr>
          <a:xfrm>
            <a:off x="6281928" y="235000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81928" y="2834640"/>
            <a:ext cx="2313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(Gemini 2.0, GPT-4o, Claude)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scrapers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+ Lever ATS APIs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for live-web augmentation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Resume-aware AI scoring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45336" y="374904"/>
            <a:ext cx="73152" cy="73152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0973"/>
          </a:xfrm>
          <a:prstGeom prst="rect">
            <a:avLst/>
          </a:prstGeom>
          <a:solidFill>
            <a:srgbClr val="EDE7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is in production.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2185416"/>
            <a:ext cx="201168" cy="201168"/>
          </a:xfrm>
          <a:prstGeom prst="ellipse">
            <a:avLst/>
          </a:prstGeom>
          <a:solidFill>
            <a:srgbClr val="FBEFE5"/>
          </a:solidFill>
          <a:ln w="12700">
            <a:solidFill>
              <a:srgbClr val="C254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6712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onboarding wizard with AI career-path suggestion.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478024"/>
            <a:ext cx="201168" cy="201168"/>
          </a:xfrm>
          <a:prstGeom prst="ellipse">
            <a:avLst/>
          </a:prstGeom>
          <a:solidFill>
            <a:srgbClr val="FBEFE5"/>
          </a:solidFill>
          <a:ln w="12700">
            <a:solidFill>
              <a:srgbClr val="C254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5973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441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Scout pipeline running daily.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770632"/>
            <a:ext cx="201168" cy="201168"/>
          </a:xfrm>
          <a:prstGeom prst="ellipse">
            <a:avLst/>
          </a:prstGeom>
          <a:solidFill>
            <a:srgbClr val="FBEFE5"/>
          </a:solidFill>
          <a:ln w="12700">
            <a:solidFill>
              <a:srgbClr val="C254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523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7340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— email, resume, interview, salary.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63240"/>
            <a:ext cx="201168" cy="201168"/>
          </a:xfrm>
          <a:prstGeom prst="ellipse">
            <a:avLst/>
          </a:prstGeom>
          <a:solidFill>
            <a:srgbClr val="FBEFE5"/>
          </a:solidFill>
          <a:ln w="12700">
            <a:solidFill>
              <a:srgbClr val="C254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4495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0266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resume profile — contact, experience, education, skills, AI analysis.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355848"/>
            <a:ext cx="201168" cy="201168"/>
          </a:xfrm>
          <a:prstGeom prst="ellipse">
            <a:avLst/>
          </a:prstGeom>
          <a:solidFill>
            <a:srgbClr val="FBEFE5"/>
          </a:solidFill>
          <a:ln w="12700">
            <a:solidFill>
              <a:srgbClr val="C254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375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3192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Saved-jobs pipeline with status tracking.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648456"/>
            <a:ext cx="201168" cy="201168"/>
          </a:xfrm>
          <a:prstGeom prst="ellipse">
            <a:avLst/>
          </a:prstGeom>
          <a:solidFill>
            <a:srgbClr val="FBEFE5"/>
          </a:solidFill>
          <a:ln w="12700">
            <a:solidFill>
              <a:srgbClr val="C254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3016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611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Region-eligibility filter — US-only roles now hidden from India users.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3941064"/>
            <a:ext cx="201168" cy="201168"/>
          </a:xfrm>
          <a:prstGeom prst="ellipse">
            <a:avLst/>
          </a:prstGeom>
          <a:solidFill>
            <a:srgbClr val="FBEFE5"/>
          </a:solidFill>
          <a:ln w="12700">
            <a:solidFill>
              <a:srgbClr val="C254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92277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9044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DOCX resume export.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4233672"/>
            <a:ext cx="201168" cy="201168"/>
          </a:xfrm>
          <a:prstGeom prst="ellipse">
            <a:avLst/>
          </a:prstGeom>
          <a:solidFill>
            <a:srgbClr val="FBEFE5"/>
          </a:solidFill>
          <a:ln w="12700">
            <a:solidFill>
              <a:srgbClr val="C254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21538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41970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checklist driving activation.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4526280"/>
            <a:ext cx="201168" cy="201168"/>
          </a:xfrm>
          <a:prstGeom prst="ellipse">
            <a:avLst/>
          </a:prstGeom>
          <a:solidFill>
            <a:srgbClr val="FBEFE5"/>
          </a:solidFill>
          <a:ln w="12700">
            <a:solidFill>
              <a:srgbClr val="C254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50799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44897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dashboard for ops.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45336" y="374904"/>
            <a:ext cx="73152" cy="73152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0973"/>
          </a:xfrm>
          <a:prstGeom prst="rect">
            <a:avLst/>
          </a:prstGeom>
          <a:solidFill>
            <a:srgbClr val="EDE7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cost structure.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0233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D"/>
            </a:solidFill>
            <a:prstDash val="solid"/>
          </a:ln>
          <a:effectLst>
            <a:outerShdw sx="100000" sy="100000" kx="0" ky="0" algn="bl" rotWithShape="0" blurRad="177800" dist="38100" dir="5400000">
              <a:srgbClr val="1A1814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48840"/>
            <a:ext cx="4023360" cy="54864"/>
          </a:xfrm>
          <a:prstGeom prst="rect">
            <a:avLst/>
          </a:prstGeom>
          <a:solidFill>
            <a:srgbClr val="C2541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13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infra (estimate)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(AI calls)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70048" y="278892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 – $250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08152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scrapers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0048" y="30815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 – $150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3741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70048" y="337413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66674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Blaze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70048" y="366674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– $60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95935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+ misc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70048" y="3959352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288536"/>
            <a:ext cx="3566160" cy="10973"/>
          </a:xfrm>
          <a:prstGeom prst="rect">
            <a:avLst/>
          </a:prstGeom>
          <a:solidFill>
            <a:srgbClr val="EDE7D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89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67712" y="4389120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~$165 – $485 / mo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2148840"/>
            <a:ext cx="40233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D"/>
            </a:solidFill>
            <a:prstDash val="solid"/>
          </a:ln>
          <a:effectLst>
            <a:outerShdw sx="100000" sy="100000" kx="0" ky="0" algn="bl" rotWithShape="0" blurRad="177800" dist="38100" dir="5400000">
              <a:srgbClr val="1A1814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148840"/>
            <a:ext cx="4023360" cy="54864"/>
          </a:xfrm>
          <a:prstGeom prst="rect">
            <a:avLst/>
          </a:prstGeom>
          <a:solidFill>
            <a:srgbClr val="C2541F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313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active user @ 1,000 MAU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92040" y="29260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70448" y="292608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$0.15 – $0.35 / user / mo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24612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70448" y="324612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$0.05 / user / 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749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$0.20 – $0.40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89204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per user / mo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based on observed token usage and current per-user query volume. Drops further with caching + cheaper-model routing.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45336" y="374904"/>
            <a:ext cx="73152" cy="73152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0973"/>
          </a:xfrm>
          <a:prstGeom prst="rect">
            <a:avLst/>
          </a:prstGeom>
          <a:solidFill>
            <a:srgbClr val="EDE7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funnel → Pro conversion.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D"/>
            </a:solidFill>
            <a:prstDash val="solid"/>
          </a:ln>
          <a:effectLst>
            <a:outerShdw sx="100000" sy="100000" kx="0" ky="0" algn="bl" rotWithShape="0" blurRad="177800" dist="38100" dir="5400000">
              <a:srgbClr val="1A1814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/ mo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fresh match per day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saved job slot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 Copilot run per day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email digest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402336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C2541F"/>
            </a:solidFill>
            <a:prstDash val="solid"/>
          </a:ln>
          <a:effectLst>
            <a:outerShdw sx="100000" sy="100000" kx="0" ky="0" algn="bl" rotWithShape="0" blurRad="177800" dist="38100" dir="5400000">
              <a:srgbClr val="1A1814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103120"/>
            <a:ext cx="4023360" cy="54864"/>
          </a:xfrm>
          <a:prstGeom prst="rect">
            <a:avLst/>
          </a:prstGeom>
          <a:solidFill>
            <a:srgbClr val="C2541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 </a:t>
            </a:r>
            <a:pPr indent="0" marL="0">
              <a:buNone/>
            </a:pPr>
            <a:r>
              <a:rPr lang="en-US" sz="13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</a:t>
            </a:r>
            <a:pPr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or $144 / yr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37760" y="320040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fresh matches per day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saved jobs + pipeline tracking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AI Copilot (email, resume, interview, salary)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DOCX exports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Scout runs — on-demand any time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eligibility + advanced filters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FBEFE5"/>
          </a:solidFill>
          <a:ln w="9525">
            <a:solidFill>
              <a:srgbClr val="C254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conversion: </a:t>
            </a:r>
            <a:pPr indent="0" marL="0">
              <a:buNone/>
            </a:pPr>
            <a:r>
              <a:rPr lang="en-US" sz="115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8% </a:t>
            </a:r>
            <a:pPr indent="0" marL="0">
              <a:buNone/>
            </a:pPr>
            <a:r>
              <a:rPr lang="en-US" sz="115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activated users at 1k MAU → </a:t>
            </a:r>
            <a:pPr indent="0" marL="0">
              <a:buNone/>
            </a:pPr>
            <a:r>
              <a:rPr lang="en-US" sz="115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$1k – $1.5k MRR</a:t>
            </a:r>
            <a:pPr indent="0" marL="0">
              <a:buNone/>
            </a:pPr>
            <a:r>
              <a:rPr lang="en-US" sz="115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Scales linearly.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45336" y="374904"/>
            <a:ext cx="73152" cy="73152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0973"/>
          </a:xfrm>
          <a:prstGeom prst="rect">
            <a:avLst/>
          </a:prstGeom>
          <a:solidFill>
            <a:srgbClr val="EDE7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drives retention.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solidFill>
            <a:srgbClr val="FBEFE5"/>
          </a:solidFill>
          <a:ln w="9525">
            <a:solidFill>
              <a:srgbClr val="C254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 =  </a:t>
            </a:r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(saved real match)  AND  (generated or viewed an application asset).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D"/>
            </a:solidFill>
            <a:prstDash val="solid"/>
          </a:ln>
          <a:effectLst>
            <a:outerShdw sx="100000" sy="100000" kx="0" ky="0" algn="bl" rotWithShape="0" blurRad="177800" dist="38100" dir="5400000">
              <a:srgbClr val="1A1814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wizard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upload-to-first-match completion (instrumented).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9718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D"/>
            </a:solidFill>
            <a:prstDash val="solid"/>
          </a:ln>
          <a:effectLst>
            <a:outerShdw sx="100000" sy="100000" kx="0" ky="0" algn="bl" rotWithShape="0" blurRad="177800" dist="38100" dir="5400000">
              <a:srgbClr val="1A1814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7472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checklist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users from passive to activated.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9718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D"/>
            </a:solidFill>
            <a:prstDash val="solid"/>
          </a:ln>
          <a:effectLst>
            <a:outerShdw sx="100000" sy="100000" kx="0" ky="0" algn="bl" rotWithShape="0" blurRad="177800" dist="38100" dir="5400000">
              <a:srgbClr val="1A1814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6364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asset persistence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Daily-return habit — each role re-engages.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tailored resume carries a “Generated by Hireschema” footer — built-in word-of-mouth.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45336" y="374904"/>
            <a:ext cx="73152" cy="73152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0973"/>
          </a:xfrm>
          <a:prstGeom prst="rect">
            <a:avLst/>
          </a:prstGeom>
          <a:solidFill>
            <a:srgbClr val="EDE7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funded next.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2240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topbar Scout CTA functional everywhere.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274320" cy="274320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Save on dashboard cards.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274320" cy="274320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/saved with the richer Pipeline experience.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383280"/>
            <a:ext cx="274320" cy="274320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3337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all generated assets to the tracked job.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274320" cy="274320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onboarding wizard with progress feedback.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114800"/>
            <a:ext cx="274320" cy="274320"/>
          </a:xfrm>
          <a:prstGeom prst="ellipse">
            <a:avLst/>
          </a:prstGeom>
          <a:solidFill>
            <a:srgbClr val="C2541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6968" y="4069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analytics — cohort dashboards for ops.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ships independently. Validates the funnel before scaling spend.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2541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737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system for remote job-seekers — not another feed.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0" y="3657600"/>
            <a:ext cx="914400" cy="22860"/>
          </a:xfrm>
          <a:prstGeom prst="rect">
            <a:avLst/>
          </a:prstGeom>
          <a:solidFill>
            <a:srgbClr val="C2541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rupesh.kumar@candidate.ly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hireschema.com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Hireschema — Executive Brief</dc:title>
  <dc:subject>PptxGenJS Presentation</dc:subject>
  <dc:creator>Hireschema</dc:creator>
  <cp:lastModifiedBy>Hireschema</cp:lastModifiedBy>
  <cp:revision>1</cp:revision>
  <dcterms:created xsi:type="dcterms:W3CDTF">2026-05-15T11:02:25Z</dcterms:created>
  <dcterms:modified xsi:type="dcterms:W3CDTF">2026-05-15T11:02:25Z</dcterms:modified>
</cp:coreProperties>
</file>