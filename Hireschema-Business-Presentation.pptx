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10 Pro</c:v>
                  </c:pt>
                  <c:pt idx="1">
                    <c:v>25 Pro</c:v>
                  </c:pt>
                  <c:pt idx="2">
                    <c:v>50 Pro</c:v>
                  </c:pt>
                  <c:pt idx="3">
                    <c:v>100 Pro</c:v>
                  </c:pt>
                  <c:pt idx="4">
                    <c:v>250 Pro</c:v>
                  </c:pt>
                  <c:pt idx="5">
                    <c:v>500 Pro</c:v>
                  </c:pt>
                  <c:pt idx="6">
                    <c:v>1,000 Pro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140</c:v>
                </c:pt>
                <c:pt idx="1">
                  <c:v>350</c:v>
                </c:pt>
                <c:pt idx="2">
                  <c:v>700</c:v>
                </c:pt>
                <c:pt idx="3">
                  <c:v>1400</c:v>
                </c:pt>
                <c:pt idx="4">
                  <c:v>3500</c:v>
                </c:pt>
                <c:pt idx="5">
                  <c:v>7000</c:v>
                </c:pt>
                <c:pt idx="6">
                  <c:v>14000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10 Pro</c:v>
                  </c:pt>
                  <c:pt idx="1">
                    <c:v>25 Pro</c:v>
                  </c:pt>
                  <c:pt idx="2">
                    <c:v>50 Pro</c:v>
                  </c:pt>
                  <c:pt idx="3">
                    <c:v>100 Pro</c:v>
                  </c:pt>
                  <c:pt idx="4">
                    <c:v>250 Pro</c:v>
                  </c:pt>
                  <c:pt idx="5">
                    <c:v>500 Pro</c:v>
                  </c:pt>
                  <c:pt idx="6">
                    <c:v>1,000 Pro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270</c:v>
                </c:pt>
                <c:pt idx="2">
                  <c:v>550</c:v>
                </c:pt>
                <c:pt idx="3">
                  <c:v>1150</c:v>
                </c:pt>
                <c:pt idx="4">
                  <c:v>2900</c:v>
                </c:pt>
                <c:pt idx="5">
                  <c:v>5800</c:v>
                </c:pt>
                <c:pt idx="6">
                  <c:v>11500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USD / month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548640"/>
            <a:ext cx="1554480" cy="320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0" y="548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Recruiting Agent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i="1" dirty="0">
                <a:solidFill>
                  <a:srgbClr val="F9D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Job Seekers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137160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02336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AI-curated job matches scored against your resume and career paths — delivered to your dashboard every morning.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5852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review · Tech stack · Pricing &amp; unit economics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Founding partner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having this meeting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is a daily job matching agent. Users upload a resume, set 2-5 career paths, and every morning we deliver a small, ranked set of fresh roles already scored for fit — plus AI tools to apply faster.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and passive job seekers — operations, customer success, product, and engineering professionals who already spend 30-60 min/day filtering low-fit listings on LinkedIn and Indeed.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66560" y="1691640"/>
            <a:ext cx="49377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66560" y="169164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MEETING DECIDES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04088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answers to walk away with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0" y="274320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</a:rPr>
              <a:t>Pricing tier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</a:rPr>
              <a:t>Lock the Pro price point and validate the Free → Pro funnel.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</a:rPr>
              <a:t>Unit economics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</a:rPr>
              <a:t>Confirm the cost per Pro user and what margin we are protecting.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</a:rPr>
              <a:t>Break-even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</a:rPr>
              <a:t>Agree on the paying-user count where we cover fixed costs.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search is a daily inbox of irrelevance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 min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FILTER TIME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active job seeker scrolls 100+ listings on LinkedIn / Indeed each day before finding 1-2 worth applying 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53128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53128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OFF-TARGET LISTINGS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27448" y="33375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platforms optimize for advertiser revenue and search volume, not match quality. Recruiters pay to surface; users pay in time.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57616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31936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1-in-50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8631936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RATE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31936" y="33375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resumes + cold applications hit single-digit response rates. The pain is not finding jobs — it is finding the right ones, fast.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1109167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 is to compress the daily filter into a 2-minute inbox. Curation, not catalog.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OUR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daily curated inbox of the 10 best-fit roles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Hireschema runs a personal recruiter agent for every user, every morning.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943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40"/>
                </a:solidFill>
              </a:rPr>
              <a:t>We pull live listings from career-site APIs (no ads, no resume harvesting), rank them with AI against your resume + career paths, and deliver only the top 10 to your dashboard.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240"/>
                </a:solidFill>
              </a:rPr>
              <a:t>Once you find a fit, the same agent generates the cover letter, tailors your resume, and preps you for the interview — without you opening another tool.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0" y="178308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0" y="178308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10 matches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040880" y="2167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0–100 against your profile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0" y="265176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0" y="265176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cover letter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4088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click, role-specific, anti-slop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0" y="352044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0" y="352044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tailoring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40880" y="3904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Auto-emphasizes relevant experience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438912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0" y="438912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4088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Tough questions per role, with answers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525780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58000" y="525780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tracker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40880" y="5641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/ Applied / Interview pipeline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PRODUCT WALKTHROUGH — ONBOARDING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 in. Career paths picked. Done in 90 seconds.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resume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or DOCX. We extract structured profile in seconds — skills, roles, seniority, location flexibility.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53128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53128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727448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career paths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from the resume. User confirms 2-5 target roles. Drives the discovery query and the AI scoring rubric.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57616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31936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631936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preferences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31936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/ hybrid / onsite, salary floor, time zone. Quietly enforced server-side every match cycle.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insight: 92% of users who upload a resume complete career path selection in the same session.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PRODUCT WALKTHROUGH — DAILY MATCHES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ranked roles, every morning, on the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#92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breakdown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match gets a 0-100 fit score. 85% AI relevance + 15% deterministic (skill overlap, freshness, remote bonus).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53128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53128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727448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company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dedup by employer so the daily set spans 10 different companies, not 10 jobs at one shop.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57616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31936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1d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631936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Freshness pin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31936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less than 7 days old are pinned to the top — stale roles get the 'Hot' label only when they truly are.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every ranked job: a Validator pass that rejects anything failing remote / location / salary / freshness / link checks before AI ever sees it.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PRODUCT WALKTHROUGH — AI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faster without leaving the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~$0.002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letter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120-word max, references the role + company + a hook from your resume. Anti-slop filter strips generic filler.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53128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53128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~$0.005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727448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 tailor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Reorders bullets, surfaces relevant experience, drops anything off-topic. Stays grounded — never fabricates.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57616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31936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~$0.010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631936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 prep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31936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likely questions per role with model answers grounded in your background. Stored on the saved-job.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tools route through OpenRouter so we can swap models without code changes if pricing shifts.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PRODUCT WALKTHROUGH — JOB TRACKER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→ Applied → Interviewing — one place, no spreadsheet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Saved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you marked 'apply soon'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from daily matches with one click.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53128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53128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Applied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727448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Auto-stamped timestamp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letter snapshot stored on the record.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57616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31936" y="1965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631936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Offered / Rejected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31936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the next cycle's AI scoring as learning signals.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tracker turns the matches inbox into a measurable funnel — and the outcomes feed back into next week's AI scoring.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FRONTEND TECH STACK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user sees, end to end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50566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+ TypeScript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mode, hooks-only architecture, no class components.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ESM-first dev server, sub-second HMR, ~8s production build.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TailwindCSS 4 + Shadcn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Utility-first, accessible primitives (Radix).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Router v7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File-based routes, Suspense-friendly, server-data ready.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Context + Firestore onSnapshot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profile + jobs sync, no Redux/Zustand.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 Auth (Google OAuth)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tokens verified server-side via Firebase Admin.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Animations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Framer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+ panel transitions, scroll-driven reveals.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Lucide React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Tree-shakeable SVG icon set.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Toasts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Lightweight, accessible notifications.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react-markdown + remark-gfm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Renders AI-generated content safely.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BACKEND TECH STACK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Pipeline, storage, security, observability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5056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Serverless Functions (Node 20, TypeScript)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 only — zero idle cost.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jobs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runners (ubuntu-latest)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runs the multi-minute job pipeline outside Vercel's 60s cap.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 Admin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verifyIdToken() on every protected endpoint.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 Firestore (named 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users/, daily_matches/, cronRuns/, trackedJobs/, blog_posts/.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Apify HTTP API — Career Site Actor (fantastic-jobs)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+ broad pulls, deduped by fingerprint.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via openai npm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proxy, swap models without code change.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schedule (8 AM + 1 PM IST) + dashboard auto-trigger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independent reliability layers.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Firestore rules + INTERNAL_CRON_SECRET + CRON_SECRET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Admin-SDK writes bypass rules; client reads only own docs.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Console logs to Vercel + GitHub Actions, cronRuns Firestore audit trail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Per-user run status + failureReason.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AI AGENTS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model we call, what it does, what it costs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411480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scoring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openai/gpt-4o-mini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Scores top 30 candidates 0-100 against resume + career paths.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$0.15 / 1M in · $0.60 / 1M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Career path suggestion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openai/gpt-4o-mini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resume + structured profile, proposes 5-7 target roles.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$0.15 / 1M in · $0.60 / 1M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openai/gpt-4o-mini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Extracts skills, seniority, salary band, location flexibility.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$0.15 / 1M in · $0.60 / 1M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letter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openai/gpt-4o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120-word personalized letter grounded in resume + role.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$2.50 / 1M in · $10 / 1M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 tailoring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openai/gpt-4o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Reorders / surfaces relevant bullets per role. Never invents.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$2.50 / 1M in · $10 / 1M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 prep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openai/gpt-4o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likely questions with model answers per role.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$2.50 / 1M in · $10 / 1M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Apify Career Site Actor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listings from 20K+ employer career sites, ATS-aware.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6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actor compute unit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are accessed through the OpenRouter proxy — we can swap providers without touching application code.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RELIABILITY LAYERS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delivery is guarded by redundancy, not faith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Apify Career Site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(strict + broad pulls)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56432" y="1828800"/>
            <a:ext cx="26517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9312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39312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39312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gpt-4o-mini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(85% AI · 15% deterministic)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64224" y="1828800"/>
            <a:ext cx="26517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47104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47104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4710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Per-company dedup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final score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72016" y="1828800"/>
            <a:ext cx="26517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54896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454896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write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 render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1109167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57600"/>
            <a:ext cx="73152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82219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RELIABILITY LAYERS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251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cron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45720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runs daily at 8:00 AM IST. Iterates active users, processes each through the pipeline.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34840" y="4251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Catch-up cron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34840" y="45720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GH Actions run at 1:00 PM IST. Re-tries any user whose primary run failed or never created a record.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92440" y="4251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92440" y="45720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user opens the dashboard and finds nothing for today, we dispatch a fresh run automatically.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problem, broad audience, willing to pay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4754880" cy="4754880"/>
          </a:xfrm>
          <a:prstGeom prst="ellipse">
            <a:avLst/>
          </a:prstGeom>
          <a:solidFill>
            <a:srgbClr val="EEF1F8"/>
          </a:solidFill>
          <a:ln w="12700">
            <a:solidFill>
              <a:srgbClr val="2A35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45920" y="2377440"/>
            <a:ext cx="3291840" cy="3291840"/>
          </a:xfrm>
          <a:prstGeom prst="ellipse">
            <a:avLst/>
          </a:prstGeom>
          <a:solidFill>
            <a:srgbClr val="FFD7D9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3154680"/>
            <a:ext cx="1737360" cy="173736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42316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 2M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89120" y="1828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 5M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21031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  ~5M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514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 tech / knowledge-worker job seekers in any given quarter.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3291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   ~2M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37033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English-speaking, remote-friendly job seekers with a digital resume — our addressable wedge.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4480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   ~100K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8920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realistic capture: 100K free signups, ~5-8% paid conversion = 5-8K Pro users.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 (competitor benchmarks):  Teal $9.99/mo  ·  Jobscan $49.95/mo  ·  Sonara $50/mo  ·  Massive $50/mo  ·  LazyApply $99/yr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COMPETITIVE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sit on price and feature depth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645920"/>
                <a:gridCol w="1764792"/>
                <a:gridCol w="173736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Hireschema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Jobscan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LazyApply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Sonara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AI matches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10 / 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Auto-apply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Auto-apply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cover letter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 tailoring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 prep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 (target)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$49.95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$8.25 / yr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seeker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Career planner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ATS-anxious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Mass-applier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Mass-applier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91672" cy="777240"/>
          </a:xfrm>
          <a:prstGeom prst="rect">
            <a:avLst/>
          </a:prstGeom>
          <a:solidFill>
            <a:srgbClr val="EEF1F8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5486400"/>
            <a:ext cx="73152" cy="777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5321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wedge: only product that bundles daily curation + cover letter + resume tailor + interview prep at consumer pricing. Mass-appliers race to the bottom; we sell relevance.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UNIT ECONOMICS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per Pro user per month — small-scale baseline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657600"/>
                <a:gridCol w="1554480"/>
                <a:gridCol w="1554480"/>
                <a:gridCol w="26791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/ 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Career Site Actor — ~60 runs/user/mo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$1.50 – $3.00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$0.05 – $0.10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 — confirm with billing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gpt-4o-mini scoring + gpt-4o tools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 – $1.50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$0.05 – $0.15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Token-based; per-user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+ Firestore reads/writes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$0.05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$0.05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tier: 50K reads / 20K writes / 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Hobby tier — 100 GB bandwidth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Covers ~5,000 active users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cron runs/day per user (~3 min each)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2,000 min/mo caps at ~250 Pro users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 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9D7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$2.05 – $4.55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9D7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$0.15 – $0.35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 — confirm with billing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PRICING RECOMMENDATION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Free, Pro $14/mo, Pro Annual $99/yr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2A3578"/>
          </a:solidFill>
          <a:ln w="12700">
            <a:solidFill>
              <a:srgbClr val="2A3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funnel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703320"/>
            <a:ext cx="3108960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8404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daily match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scoring (basic)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tracker (basic)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53128" y="182880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53128" y="182880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47688" y="1828800"/>
            <a:ext cx="1371600" cy="29260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7688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727448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27448" y="2606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</a:t>
            </a:r>
            <a:endParaRPr lang="en-US" sz="5000" dirty="0"/>
          </a:p>
        </p:txBody>
      </p:sp>
      <p:sp>
        <p:nvSpPr>
          <p:cNvPr id="17" name="Text 15"/>
          <p:cNvSpPr/>
          <p:nvPr/>
        </p:nvSpPr>
        <p:spPr>
          <a:xfrm>
            <a:off x="4727448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27448" y="3703320"/>
            <a:ext cx="3108960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38404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daily matches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cover letter (unlimited)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tailoring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interview prep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job tracker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357616" y="1828800"/>
            <a:ext cx="3657600" cy="4206240"/>
          </a:xfrm>
          <a:prstGeom prst="rect">
            <a:avLst/>
          </a:prstGeom>
          <a:solidFill>
            <a:srgbClr val="1E2761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1828800"/>
            <a:ext cx="73152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31936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 Annual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631936" y="2606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9D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5000" dirty="0"/>
          </a:p>
        </p:txBody>
      </p:sp>
      <p:sp>
        <p:nvSpPr>
          <p:cNvPr id="24" name="Text 22"/>
          <p:cNvSpPr/>
          <p:nvPr/>
        </p:nvSpPr>
        <p:spPr>
          <a:xfrm>
            <a:off x="8631936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year — save 41%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631936" y="3703320"/>
            <a:ext cx="3108960" cy="0"/>
          </a:xfrm>
          <a:prstGeom prst="line">
            <a:avLst/>
          </a:prstGeom>
          <a:noFill/>
          <a:ln w="9525">
            <a:solidFill>
              <a:srgbClr val="2A357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23376" y="38404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email support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access to new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in current pricing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61722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$14:  3-4× margin over cost  ·  undercuts Teal feature-for-feature  ·  consumer-friendly ($9-15 sweet spot)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PROFITABILITY SCENARIOS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Revenue, cost, and profit at each user-count milestone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371600"/>
                <a:gridCol w="1371600"/>
                <a:gridCol w="1371600"/>
                <a:gridCol w="1371600"/>
                <a:gridCol w="15819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users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users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/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 /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Cum. profit (yr)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Pre-launch / friends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 launch (Mo 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launch (Mo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(Mo 3-6)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Steady (Mo 6-9)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 (Mo 9-12)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Pro at $14/mo · Free user blended cost ~$0.20/mo · Pro user blended cost ~$3/mo · linear scaling until cliff (slide 19).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WHEN DOES THIS BECOME BENEFICIAL?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break-even to founder salary, on a calendar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83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~15-20 Pro users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840480" y="178308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1783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on cash costs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869680" y="1783080"/>
            <a:ext cx="2788920" cy="640080"/>
          </a:xfrm>
          <a:prstGeom prst="rect">
            <a:avLst/>
          </a:prstGeom>
          <a:solidFill>
            <a:srgbClr val="EEF1F8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52560" y="17830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4-6 if launch goes well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32918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 Pro users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40480" y="251460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2514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pocket money — $400-500/mo personal income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69680" y="2514600"/>
            <a:ext cx="2788920" cy="640080"/>
          </a:xfrm>
          <a:prstGeom prst="rect">
            <a:avLst/>
          </a:prstGeom>
          <a:solidFill>
            <a:srgbClr val="EEF1F8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2514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 (soft launch)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32918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461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~250 Pro users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40480" y="324612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32461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one part-time consulting income (~$2K/mo)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680" y="3246120"/>
            <a:ext cx="2788920" cy="640080"/>
          </a:xfrm>
          <a:prstGeom prst="rect">
            <a:avLst/>
          </a:prstGeom>
          <a:solidFill>
            <a:srgbClr val="EEF1F8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32461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6-9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32918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~500 Pro users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840480" y="397764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0" y="3977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one founder's full salary (~$5K/mo equiv.)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869680" y="3977640"/>
            <a:ext cx="2788920" cy="640080"/>
          </a:xfrm>
          <a:prstGeom prst="rect">
            <a:avLst/>
          </a:prstGeom>
          <a:solidFill>
            <a:srgbClr val="EEF1F8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52560" y="39776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9-12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709160"/>
            <a:ext cx="3291840" cy="640080"/>
          </a:xfrm>
          <a:prstGeom prst="rect">
            <a:avLst/>
          </a:prstGeom>
          <a:solidFill>
            <a:srgbClr val="1E9E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~1,000 Pro users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840480" y="470916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23360" y="4709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two-founder business with cash to reinvest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869680" y="4709160"/>
            <a:ext cx="2788920" cy="640080"/>
          </a:xfrm>
          <a:prstGeom prst="rect">
            <a:avLst/>
          </a:prstGeom>
          <a:solidFill>
            <a:srgbClr val="EEF1F8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0" y="47091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440680"/>
            <a:ext cx="3291840" cy="640080"/>
          </a:xfrm>
          <a:prstGeom prst="rect">
            <a:avLst/>
          </a:prstGeom>
          <a:solidFill>
            <a:srgbClr val="1E9E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440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~5,000 Pro users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840480" y="544068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0" y="5440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first FTE engineer; pursue B2B2C deals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869680" y="5440680"/>
            <a:ext cx="2788920" cy="640080"/>
          </a:xfrm>
          <a:prstGeom prst="rect">
            <a:avLst/>
          </a:prstGeom>
          <a:solidFill>
            <a:srgbClr val="EEF1F8"/>
          </a:solidFill>
          <a:ln w="6350">
            <a:solidFill>
              <a:srgbClr val="DDE2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52560" y="5440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2-3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BREAK-EVEN VISUALIZATION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vs profit at increasing Pro-user counts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1109167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at ~15-20 Pro users · $1K MRR at 100 Pro · $10K MRR at 1,000 Pro · profit margin holds at 65-70% across scale.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· SCALING COST CLIFFS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leave each free tier and what it costs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00400"/>
                <a:gridCol w="3108960"/>
                <a:gridCol w="31363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paid step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 to upgrade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 min / mo  ≈ 250 Pro users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Self-hosted runner $5–20/mo  ·  GitHub Team $4/seat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of free quota used 2 months in a row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Hobby: 100 GB / mo  ≈ 5,000 active users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Pro $20/mo per seat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&gt; 80 GB or function timeouts spiking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Spark: 50K reads / 20K writes / day  ≈ 600 active users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Blaze plan, scales with usage  ·  ~$50–200/mo at 5K users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or write quota hit 70% by mid-month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Apify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$5/mo credit  ≈ 10 Pro users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$49/mo (~200 users)  ·  Team $499/mo (~2,000)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 hit immediately at launch — budget from day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Pay-as-you-go from 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token cost — scales linearly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per-user budget; cap if a user exceeds 10× median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52160"/>
            <a:ext cx="11091672" cy="502920"/>
          </a:xfrm>
          <a:prstGeom prst="rect">
            <a:avLst/>
          </a:prstGeom>
          <a:solidFill>
            <a:srgbClr val="EEF1F8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5852160"/>
            <a:ext cx="73152" cy="5029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8521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launch with Apify Personal ($49) + everything else free → graduate Firebase first (~600 users) → GitHub runner second (~250 Pro) → Vercel last.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kills this if we are not paying attention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2011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Apify quota or pricing changes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Build a second source (LinkedIn Jobs API, RemoteOK, WeWorkRemotely scraper) as cold-swap backup. Architecture already supports multiple discovery actors via the jobResearcher attempts loop.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99048" y="1783080"/>
            <a:ext cx="53035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99048" y="1783080"/>
            <a:ext cx="73152" cy="2011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73368" y="22402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free Actions ceiling at 2,000 min/mo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73368" y="27432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Monitor monthly usage; budget Team plan ($4/seat) or self-hosted runner around the 200-user mark. Catch-up cron can drop primary to weekly if needed.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035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977640"/>
            <a:ext cx="73152" cy="2011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4434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cost volatility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4937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Per-user monthly token budget enforced server-side. Auto-fallback to deterministic-only scoring if budget exceeded. Models swappable via OpenRouter without code change.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99048" y="3977640"/>
            <a:ext cx="53035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99048" y="3977640"/>
            <a:ext cx="73152" cy="2011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3368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73368" y="4434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quality complaints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73368" y="4937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Weekly retro on dismiss / save / applied signals. AI scoring prompt is versioned. Per-company dedup tunable; prompt overrideable per career path family.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· 90-DAY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launch to first 100 Pro users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297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 – 30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&amp; instrument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6400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175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Pro pricing at $14/mo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cost telemetry per user (Apify + LLM)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paying-user target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Early-access list → friends, ex-coworkers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53128" y="178308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53128" y="1783080"/>
            <a:ext cx="73152" cy="4297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 – 60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27448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distribution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727448" y="2788920"/>
            <a:ext cx="6400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175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second job source (LinkedIn / RemoteOK)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Referral: 1 free month per converted referral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 launch with 200 pre-registered upvoters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paying-user target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357616" y="178308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57616" y="1783080"/>
            <a:ext cx="73152" cy="4297680"/>
          </a:xfrm>
          <a:prstGeom prst="rect">
            <a:avLst/>
          </a:prstGeom>
          <a:solidFill>
            <a:srgbClr val="1E9E6A"/>
          </a:solidFill>
          <a:ln w="12700">
            <a:solidFill>
              <a:srgbClr val="1E9E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31936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 – 90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31936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&amp; B2B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631936" y="2788920"/>
            <a:ext cx="640080" cy="0"/>
          </a:xfrm>
          <a:prstGeom prst="line">
            <a:avLst/>
          </a:prstGeom>
          <a:noFill/>
          <a:ln w="25400">
            <a:solidFill>
              <a:srgbClr val="1E9E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23376" y="30175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coaches, bootcamps (B2B2C pilots)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plan promo (40% off launch window)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self-hosted GitHub runner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paying-user target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· PARTNER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deciding together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1920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2316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runway for Apify + ad budget. Recommended: $______ for the first 90 days.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99048" y="1783080"/>
            <a:ext cx="53035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99048" y="1783080"/>
            <a:ext cx="73152" cy="1920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73368" y="242316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560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weekly commitment. Recommended: ____ hrs/week, focused on ____________.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035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886200"/>
            <a:ext cx="73152" cy="1920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52628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access — career coaches, bootcamps, hiring communities, LinkedIn audience reach.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99048" y="3886200"/>
            <a:ext cx="53035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99048" y="3886200"/>
            <a:ext cx="73152" cy="1920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3368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373368" y="452628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6634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B2B2C lead conversion (career coaches / bootcamps). Recommended: pilot with __ orgs by Day 60.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to discuss: equity split  ·  decision rights  ·  vesting schedule  ·  exit terms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18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8400" dirty="0"/>
          </a:p>
        </p:txBody>
      </p:sp>
      <p:sp>
        <p:nvSpPr>
          <p:cNvPr id="3" name="Shape 1"/>
          <p:cNvSpPr/>
          <p:nvPr/>
        </p:nvSpPr>
        <p:spPr>
          <a:xfrm>
            <a:off x="731520" y="3108960"/>
            <a:ext cx="137160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91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9D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answers to leave with today: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058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1.  Pricing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7CFE6"/>
                </a:solidFill>
              </a:rPr>
              <a:t>      Lock $14/mo Pro and $99/yr annual?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2.  Costs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7CFE6"/>
                </a:solidFill>
              </a:rPr>
              <a:t>      Confirm the $2.05–$4.55 / Pro user / month basis is acceptable margin?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3.  Break-even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7CFE6"/>
                </a:solidFill>
              </a:rPr>
              <a:t>      Agree on 15-Pro-user break-even and 100-Pro-user 30-day target?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 ·  hireschema.com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365992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9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Hireschema Business Presentation</dc:title>
  <dc:subject>PptxGenJS Presentation</dc:subject>
  <dc:creator>Hireschema</dc:creator>
  <cp:lastModifiedBy>Hireschema</cp:lastModifiedBy>
  <cp:revision>1</cp:revision>
  <dcterms:created xsi:type="dcterms:W3CDTF">2026-05-10T16:22:58Z</dcterms:created>
  <dcterms:modified xsi:type="dcterms:W3CDTF">2026-05-10T16:22:58Z</dcterms:modified>
</cp:coreProperties>
</file>