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10 Pro</c:v>
                  </c:pt>
                  <c:pt idx="1">
                    <c:v>25 Pro</c:v>
                  </c:pt>
                  <c:pt idx="2">
                    <c:v>50 Pro</c:v>
                  </c:pt>
                  <c:pt idx="3">
                    <c:v>100 Pro</c:v>
                  </c:pt>
                  <c:pt idx="4">
                    <c:v>250 Pro</c:v>
                  </c:pt>
                  <c:pt idx="5">
                    <c:v>500 Pro</c:v>
                  </c:pt>
                  <c:pt idx="6">
                    <c:v>1,000 Pro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140</c:v>
                </c:pt>
                <c:pt idx="1">
                  <c:v>350</c:v>
                </c:pt>
                <c:pt idx="2">
                  <c:v>700</c:v>
                </c:pt>
                <c:pt idx="3">
                  <c:v>1400</c:v>
                </c:pt>
                <c:pt idx="4">
                  <c:v>3500</c:v>
                </c:pt>
                <c:pt idx="5">
                  <c:v>7000</c:v>
                </c:pt>
                <c:pt idx="6">
                  <c:v>14000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Profit</c:v>
                </c:pt>
              </c:strCache>
            </c:strRef>
          </c:tx>
          <c:spPr>
            <a:solidFill>
              <a:srgbClr val="F9616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10 Pro</c:v>
                  </c:pt>
                  <c:pt idx="1">
                    <c:v>25 Pro</c:v>
                  </c:pt>
                  <c:pt idx="2">
                    <c:v>50 Pro</c:v>
                  </c:pt>
                  <c:pt idx="3">
                    <c:v>100 Pro</c:v>
                  </c:pt>
                  <c:pt idx="4">
                    <c:v>250 Pro</c:v>
                  </c:pt>
                  <c:pt idx="5">
                    <c:v>500 Pro</c:v>
                  </c:pt>
                  <c:pt idx="6">
                    <c:v>1,000 Pro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100</c:v>
                </c:pt>
                <c:pt idx="1">
                  <c:v>270</c:v>
                </c:pt>
                <c:pt idx="2">
                  <c:v>550</c:v>
                </c:pt>
                <c:pt idx="3">
                  <c:v>1150</c:v>
                </c:pt>
                <c:pt idx="4">
                  <c:v>2900</c:v>
                </c:pt>
                <c:pt idx="5">
                  <c:v>5800</c:v>
                </c:pt>
                <c:pt idx="6">
                  <c:v>11500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000000"/>
                    </a:solidFill>
                    <a:latin typeface="Arial"/>
                  </a:rPr>
                  <a:t>USD / month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8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548640"/>
            <a:ext cx="1554480" cy="3200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058400" y="5486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DECK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10058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HIRESCHEMA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Recruiting Agent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i="1" dirty="0">
                <a:solidFill>
                  <a:srgbClr val="F9D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Job Seekers</a:t>
            </a:r>
            <a:endParaRPr lang="en-US" sz="5600" dirty="0"/>
          </a:p>
        </p:txBody>
      </p:sp>
      <p:sp>
        <p:nvSpPr>
          <p:cNvPr id="7" name="Shape 5"/>
          <p:cNvSpPr/>
          <p:nvPr/>
        </p:nvSpPr>
        <p:spPr>
          <a:xfrm>
            <a:off x="731520" y="3840480"/>
            <a:ext cx="1371600" cy="0"/>
          </a:xfrm>
          <a:prstGeom prst="line">
            <a:avLst/>
          </a:prstGeom>
          <a:noFill/>
          <a:ln w="38100">
            <a:solidFill>
              <a:srgbClr val="F9616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402336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7C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AI-curated job matches scored against your resume and career paths — delivered to your dashboard every morning.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58521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E9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review · Pricing &amp; unit economics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E9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for: Founding partner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EXECUTIVE SUMMARY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are having this meeting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Hireschema is a daily job matching agent. Users upload a resume, set 2-5 career paths, and every morning we deliver a small, ranked set of fresh roles already scored for fit — plus AI tools to apply faster.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657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USER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397764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and passive job seekers — operations, customer success, product, and engineering professionals who already spend 30-60 min/day filtering low-fit listings on LinkedIn and Indeed.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766560" y="1691640"/>
            <a:ext cx="493776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766560" y="1691640"/>
            <a:ext cx="73152" cy="42062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40880" y="1874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MEETING DECIDES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040880" y="21945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answers to walk away with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040880" y="2743200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</a:rPr>
              <a:t>Pricing tier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A6280"/>
                </a:solidFill>
              </a:rPr>
              <a:t>Lock the Pro price point and validate the Free → Pro funnel.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</a:rPr>
              <a:t>Unit economics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A6280"/>
                </a:solidFill>
              </a:rPr>
              <a:t>Confirm the cost per Pro user and what margin we are protecting.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</a:rPr>
              <a:t>Break-even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A6280"/>
                </a:solidFill>
              </a:rPr>
              <a:t>Agree on the paying-user count where we cover fixed costs and start banking profit.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DDE2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Hireschema · Internal · Business review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365992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THE PROBLEM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Job search is a daily inbox of irrelevance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65760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783080"/>
            <a:ext cx="73152" cy="42062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9659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40+ min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822960" y="2971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FILTER TIME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3337560"/>
            <a:ext cx="3291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active job seeker scrolls 100+ listings on LinkedIn / Indeed each day before finding 1-2 worth applying to.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53128" y="1783080"/>
            <a:ext cx="365760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53128" y="1783080"/>
            <a:ext cx="73152" cy="42062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27448" y="19659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70%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4727448" y="2971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OFF-TARGET LISTINGS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727448" y="3337560"/>
            <a:ext cx="3291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platforms optimize for advertiser revenue and search volume, not match quality. Recruiters pay to surface; users pay in time.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357616" y="1783080"/>
            <a:ext cx="365760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57616" y="1783080"/>
            <a:ext cx="73152" cy="42062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31936" y="19659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1-in-50</a:t>
            </a:r>
            <a:endParaRPr lang="en-US" sz="4800" dirty="0"/>
          </a:p>
        </p:txBody>
      </p:sp>
      <p:sp>
        <p:nvSpPr>
          <p:cNvPr id="17" name="Text 15"/>
          <p:cNvSpPr/>
          <p:nvPr/>
        </p:nvSpPr>
        <p:spPr>
          <a:xfrm>
            <a:off x="8631936" y="2971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REPLY RATE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631936" y="3337560"/>
            <a:ext cx="3291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resumes + cold applications hit single-digit response rates. The pain is not finding jobs — it is finding the right ones, fast.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5669280"/>
            <a:ext cx="1109167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56692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job is to compress the daily filter into a 2-minute inbox. Curation, not catalog.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DDE2E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Hireschema · Internal · Business review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365992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OUR SOLUTION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daily curated inbox of the 10 best-fit roles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Hireschema runs a personal recruiter agent for every user, every morning.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2606040"/>
            <a:ext cx="5943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240"/>
                </a:solidFill>
              </a:rPr>
              <a:t>We pull live listings from career-site APIs (no ads, no resume harvesting), rank them with AI against your resume + career paths, and deliver only the top 10 to your dashboard.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2240"/>
                </a:solidFill>
              </a:rPr>
              <a:t>Once you find a fit, the same agent generates the cover letter, tailors your resume, and preps you for the interview — without you opening another tool.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858000" y="1783080"/>
            <a:ext cx="484632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858000" y="1783080"/>
            <a:ext cx="73152" cy="7315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040880" y="1874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10 matches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040880" y="21671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0–100 against your profile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858000" y="2651760"/>
            <a:ext cx="484632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858000" y="2651760"/>
            <a:ext cx="73152" cy="7315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40880" y="2743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cover letter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040880" y="30358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click, role-specific, anti-slop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0" y="3520440"/>
            <a:ext cx="484632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858000" y="3520440"/>
            <a:ext cx="73152" cy="7315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40880" y="3611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 tailoring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040880" y="39044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Auto-emphasizes relevant experience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858000" y="4389120"/>
            <a:ext cx="484632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858000" y="4389120"/>
            <a:ext cx="73152" cy="7315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040880" y="4480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 prep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04088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Tough questions per role, with answers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858000" y="5257800"/>
            <a:ext cx="484632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858000" y="5257800"/>
            <a:ext cx="73152" cy="7315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040880" y="5349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tracker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040880" y="56418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/ Applied / Interview pipeline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DDE2E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Hireschema · Internal · Business review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365992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PRODUCT WALKTHROUGH — ONBOARDING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Resume in. Career paths picked. Done in 90 seconds.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65760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783080"/>
            <a:ext cx="73152" cy="402336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9659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822960" y="27432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Upload resume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3246120"/>
            <a:ext cx="3291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or DOCX. We extract structured profile in seconds — skills, roles, seniority, location flexibility.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53128" y="1783080"/>
            <a:ext cx="365760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53128" y="1783080"/>
            <a:ext cx="73152" cy="402336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27448" y="19659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4727448" y="27432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career paths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727448" y="3246120"/>
            <a:ext cx="3291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Suggested from the resume. User confirms 2-5 target roles. Drives the discovery query and the AI scoring rubric.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357616" y="1783080"/>
            <a:ext cx="365760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57616" y="1783080"/>
            <a:ext cx="73152" cy="402336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31936" y="19659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8631936" y="27432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preferences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631936" y="3246120"/>
            <a:ext cx="3291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/ hybrid / onsite, salary floor, time zone. Quietly enforced server-side every match cycle.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Drop-off insight: 92% of users who upload a resume complete career path selection in the same session.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DDE2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Hireschema · Internal · Business review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365992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PRODUCT WALKTHROUGH — DAILY MATCHES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ranked roles, every morning, on the dashboard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MORNING DASHBOARD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685800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057400"/>
            <a:ext cx="73152" cy="7772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2176272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1762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63040" y="214884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Sr. Customer Success Lead (Remote)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463040" y="2441448"/>
            <a:ext cx="5760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Jobgether · Colombia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463040" y="2606040"/>
            <a:ext cx="5760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· 3d ago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48640" y="2926080"/>
            <a:ext cx="685800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2926080"/>
            <a:ext cx="73152" cy="7772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3044952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044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463040" y="3017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Success Manager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463040" y="3310128"/>
            <a:ext cx="5760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FarmRaise · United States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463040" y="3474720"/>
            <a:ext cx="5760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· 4d ago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8640" y="3794760"/>
            <a:ext cx="685800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48640" y="3794760"/>
            <a:ext cx="73152" cy="7772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" y="3913632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39136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463040" y="388620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Operations Manager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463040" y="4178808"/>
            <a:ext cx="5760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Acronis · Italy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463040" y="4343400"/>
            <a:ext cx="5760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· 1d ago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" y="4663440"/>
            <a:ext cx="685800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48640" y="4663440"/>
            <a:ext cx="73152" cy="7772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77240" y="4782312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47823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463040" y="475488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Lead, EMEA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463040" y="5047488"/>
            <a:ext cx="5760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 · Remote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463040" y="5212080"/>
            <a:ext cx="5760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· 2d ago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7772400" y="1783080"/>
            <a:ext cx="3931920" cy="4297680"/>
          </a:xfrm>
          <a:prstGeom prst="rect">
            <a:avLst/>
          </a:prstGeom>
          <a:solidFill>
            <a:srgbClr val="1E2761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7772400" y="1783080"/>
            <a:ext cx="73152" cy="429768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001000" y="1965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0-100 SCORE IS BUILT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001000" y="22860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job gets two scores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001000" y="2788920"/>
            <a:ext cx="3657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85%   AI relevance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B6BFD9"/>
                </a:solidFill>
              </a:rPr>
              <a:t>GPT-4o-mini scores fit against your resume + career paths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15%   Deterministic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B6BFD9"/>
                </a:solidFill>
              </a:rPr>
              <a:t>Skill overlap, freshness, remote bonus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200" i="1" dirty="0">
                <a:solidFill>
                  <a:srgbClr val="F9D77E"/>
                </a:solidFill>
              </a:rPr>
              <a:t>Then we de-duplicate by company, take the top 10, and pin the freshest first.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DDE2E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Hireschema · Internal · Business review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1365992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PRODUCT WALKTHROUGH — AI TOOLS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Apply faster without leaving the dashboard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65760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783080"/>
            <a:ext cx="73152" cy="42062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116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Cover letter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822960" y="2542032"/>
            <a:ext cx="640080" cy="0"/>
          </a:xfrm>
          <a:prstGeom prst="line">
            <a:avLst/>
          </a:prstGeom>
          <a:noFill/>
          <a:ln w="25400">
            <a:solidFill>
              <a:srgbClr val="F9616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74320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120-word max. References the role + company + a hook from your resume. Anti-slop filter strips 'I am excited' / 'tapestry' / 'delve' style filler.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53492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· ~$0.002 PER LETTER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53128" y="1783080"/>
            <a:ext cx="365760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453128" y="1783080"/>
            <a:ext cx="73152" cy="42062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27448" y="20116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Resume tailor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4727448" y="2542032"/>
            <a:ext cx="640080" cy="0"/>
          </a:xfrm>
          <a:prstGeom prst="line">
            <a:avLst/>
          </a:prstGeom>
          <a:noFill/>
          <a:ln w="25400">
            <a:solidFill>
              <a:srgbClr val="F9616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27448" y="274320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Reorders bullets, surfaces relevant experience, drops anything off-topic. Stays grounded in the original — never fabricates.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727448" y="53492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· ~$0.005 PER TAILOR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357616" y="1783080"/>
            <a:ext cx="365760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57616" y="1783080"/>
            <a:ext cx="73152" cy="42062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31936" y="20116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Interview prep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8631936" y="2542032"/>
            <a:ext cx="640080" cy="0"/>
          </a:xfrm>
          <a:prstGeom prst="line">
            <a:avLst/>
          </a:prstGeom>
          <a:noFill/>
          <a:ln w="25400">
            <a:solidFill>
              <a:srgbClr val="F9616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31936" y="274320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10-15 likely questions per role with model answers grounded in your background. Stored on the saved-job for re-reference.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631936" y="53492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SONNET · ~$0.01 PER PACK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6080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AI tools route through OpenRouter so we can swap models without code changes if pricing shifts.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DDE2E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Hireschema · Internal · Business review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365992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PRODUCT WALKTHROUGH — JOB TRACKER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Save → Applied → Interviewing — one place, no spreadsheet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65176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828800"/>
            <a:ext cx="73152" cy="4206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116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822960" y="3017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338328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you marked 'apply soon'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56432" y="1828800"/>
            <a:ext cx="265176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56432" y="1828800"/>
            <a:ext cx="73152" cy="42062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30752" y="20116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5000" dirty="0"/>
          </a:p>
        </p:txBody>
      </p:sp>
      <p:sp>
        <p:nvSpPr>
          <p:cNvPr id="12" name="Text 10"/>
          <p:cNvSpPr/>
          <p:nvPr/>
        </p:nvSpPr>
        <p:spPr>
          <a:xfrm>
            <a:off x="3730752" y="3017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730752" y="338328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Auto-pulled timestamp + cover letter snapshot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364224" y="1828800"/>
            <a:ext cx="265176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364224" y="1828800"/>
            <a:ext cx="73152" cy="4206240"/>
          </a:xfrm>
          <a:prstGeom prst="rect">
            <a:avLst/>
          </a:prstGeom>
          <a:solidFill>
            <a:srgbClr val="1E9E6A"/>
          </a:solidFill>
          <a:ln w="12700">
            <a:solidFill>
              <a:srgbClr val="1E9E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38544" y="20116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1E9E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5000" dirty="0"/>
          </a:p>
        </p:txBody>
      </p:sp>
      <p:sp>
        <p:nvSpPr>
          <p:cNvPr id="17" name="Text 15"/>
          <p:cNvSpPr/>
          <p:nvPr/>
        </p:nvSpPr>
        <p:spPr>
          <a:xfrm>
            <a:off x="6638544" y="3017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INTERVIEWING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638544" y="338328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 + interview prep tied to the job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272016" y="1828800"/>
            <a:ext cx="265176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272016" y="1828800"/>
            <a:ext cx="73152" cy="4206240"/>
          </a:xfrm>
          <a:prstGeom prst="rect">
            <a:avLst/>
          </a:prstGeom>
          <a:solidFill>
            <a:srgbClr val="5A6280"/>
          </a:solidFill>
          <a:ln w="12700">
            <a:solidFill>
              <a:srgbClr val="5A628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546336" y="20116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5A6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5000" dirty="0"/>
          </a:p>
        </p:txBody>
      </p:sp>
      <p:sp>
        <p:nvSpPr>
          <p:cNvPr id="22" name="Text 20"/>
          <p:cNvSpPr/>
          <p:nvPr/>
        </p:nvSpPr>
        <p:spPr>
          <a:xfrm>
            <a:off x="9546336" y="3017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OFFERED / REJECTED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546336" y="338328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Outcomes feed back into match scoring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" y="6126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tracker turns the matches inbox into a measurable funnel — and the outcomes feed back into next week's AI scoring.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DDE2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Hireschema · Internal · Business review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365992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HOW IT WORKS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job board to dashboard in three reliable layers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651760" cy="1371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74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Discover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606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6B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Apify Career Site API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6B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(strict + broad pulls, deduped)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 rot="5400000">
            <a:off x="3246120" y="2423160"/>
            <a:ext cx="164592" cy="182880"/>
          </a:xfrm>
          <a:prstGeom prst="rtTriangl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56432" y="1828800"/>
            <a:ext cx="2651760" cy="1371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39312" y="1874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639312" y="21945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639312" y="2606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6B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OpenRouter gpt-4o-mini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6B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(85% AI · 15% deterministic)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 rot="5400000">
            <a:off x="6153912" y="2423160"/>
            <a:ext cx="164592" cy="182880"/>
          </a:xfrm>
          <a:prstGeom prst="rtTriangl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64224" y="1828800"/>
            <a:ext cx="2651760" cy="1371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47104" y="1874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47104" y="21945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Curate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547104" y="2606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6B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Per-company dedup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6B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by final score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 rot="5400000">
            <a:off x="9061704" y="2423160"/>
            <a:ext cx="164592" cy="182880"/>
          </a:xfrm>
          <a:prstGeom prst="rtTriangl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272016" y="1828800"/>
            <a:ext cx="2651760" cy="1371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54896" y="1874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454896" y="21945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454896" y="2606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6B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Firestore write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6B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dashboard render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3657600"/>
            <a:ext cx="11091672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48640" y="3657600"/>
            <a:ext cx="73152" cy="23774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3822192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RELIABILITY LAYERS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7240" y="4114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Daily delivery is guarded by redundancy, not faith.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77240" y="47091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cron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77240" y="502920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runs daily at 8:00 AM IST. Iterates active users, processes each through the pipeline.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434840" y="47091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Catch-up cron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434840" y="502920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GH Actions run at 1:00 PM IST. Re-tries any user whose primary run failed or never created a record.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092440" y="47091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Auto-trigger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092440" y="502920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user opens the dashboard and finds nothing for today, we dispatch a fresh run automatically.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DDE2E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Hireschema · Internal · Business review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365992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MARKET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Big problem, broad audience, willing to pay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14400" y="1645920"/>
            <a:ext cx="4754880" cy="4754880"/>
          </a:xfrm>
          <a:prstGeom prst="ellipse">
            <a:avLst/>
          </a:prstGeom>
          <a:solidFill>
            <a:srgbClr val="EEF1F8"/>
          </a:solidFill>
          <a:ln w="12700">
            <a:solidFill>
              <a:srgbClr val="2A357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45920" y="2377440"/>
            <a:ext cx="3291840" cy="3291840"/>
          </a:xfrm>
          <a:prstGeom prst="ellipse">
            <a:avLst/>
          </a:prstGeom>
          <a:solidFill>
            <a:srgbClr val="FFD7D9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423160" y="3154680"/>
            <a:ext cx="1737360" cy="1737360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423160" y="36576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423160" y="39776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100K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57600" y="26517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   2M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389120" y="18288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  5M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0" y="17830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0" y="21031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TAM   ~5M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0" y="251460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US tech / knowledge-worker job seekers in any given quarter.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0" y="32918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   ~2M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00800" y="370332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English-speaking, remote-friendly job seekers with a digital resume — our addressable wedge.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0" y="44805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   ~100K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00800" y="489204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3-year realistic capture: 100K free signups, ~5-8% paid conversion = 5-8K Pro users.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59893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Willingness to pay (competitor benchmarks):  Teal $9.99/mo  ·  Jobscan $49.95/mo  ·  Sonara $50/mo  ·  Massive $50/mo  ·  LazyApply $99/yr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DDE2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Hireschema · Internal · Business review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365992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COMPETITIVE LANDSCAPE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we sit on price and feature depth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828800"/>
                <a:gridCol w="1645920"/>
                <a:gridCol w="1764792"/>
                <a:gridCol w="1737360"/>
                <a:gridCol w="182880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Hireschema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Jobscan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LazyApply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Sonara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 AI matches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10/day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7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Auto-apply only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Auto-apply only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cover letter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7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Templated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Templated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Resume tailoring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7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 editor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ATS-focused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Interview prep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AI questions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7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Monthly price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 (target)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7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$9.99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$49.95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$8.25 ($99/yr)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seeker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7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Career planner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ATS-anxious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Mass-applier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Mass-applier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486400"/>
            <a:ext cx="11091672" cy="777240"/>
          </a:xfrm>
          <a:prstGeom prst="rect">
            <a:avLst/>
          </a:prstGeom>
          <a:solidFill>
            <a:srgbClr val="EEF1F8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5486400"/>
            <a:ext cx="73152" cy="7772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5532120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wedge: only product that bundles daily curation + cover letter + resume tailor + interview prep at consumer pricing. Mass-appliers race to the bottom; we sell relevance.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DDE2E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Hireschema · Internal · Business review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365992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UNIT ECONOMICS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per Pro user per month — small-scale baseline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657600"/>
                <a:gridCol w="1554480"/>
                <a:gridCol w="1554480"/>
                <a:gridCol w="2679192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we use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 / mo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/ mo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Apify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Career Site Actor — 60 runs/user/mo (2 strict + broad × 30 days)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$1.50 – $3.00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$0.05 – $0.10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Estimate — confirm with Apify billing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OpenRouter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gpt-4o-mini scoring + claude-3.5-sonnet for tools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$0.50 – $1.50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$0.05 – $0.15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Token-based; will track per-user budget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Firebase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 + Firestore reads / writes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$0.05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$0.05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tier: 50K reads / 20K writes daily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Vercel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Hobby tier — 100 GB bandwidth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Covers ~5,000 active users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Actions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cron runs/day per user (~3 min each)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2,000 min/mo caps at ~250 Pro users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 per user / month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All-in cost basis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9D7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$2.50 – $5.00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9D7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$0.15 – $0.35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Estimate — confirm with billing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DDE2E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Hireschema · Internal · Business review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365992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PRICING RECOMMENDATION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Free, Pro $14/mo, Pro Annual $99/yr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65760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828800"/>
            <a:ext cx="73152" cy="4206240"/>
          </a:xfrm>
          <a:prstGeom prst="rect">
            <a:avLst/>
          </a:prstGeom>
          <a:solidFill>
            <a:srgbClr val="2A3578"/>
          </a:solidFill>
          <a:ln w="12700">
            <a:solidFill>
              <a:srgbClr val="2A357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574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60604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</a:t>
            </a:r>
            <a:endParaRPr lang="en-US" sz="5000" dirty="0"/>
          </a:p>
        </p:txBody>
      </p:sp>
      <p:sp>
        <p:nvSpPr>
          <p:cNvPr id="8" name="Text 6"/>
          <p:cNvSpPr/>
          <p:nvPr/>
        </p:nvSpPr>
        <p:spPr>
          <a:xfrm>
            <a:off x="822960" y="33832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funnel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22960" y="3703320"/>
            <a:ext cx="3108960" cy="0"/>
          </a:xfrm>
          <a:prstGeom prst="line">
            <a:avLst/>
          </a:prstGeom>
          <a:noFill/>
          <a:ln w="9525">
            <a:solidFill>
              <a:srgbClr val="DDE2E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840480"/>
            <a:ext cx="3108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daily match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scoring (basic)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AI tools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tracker (basic)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453128" y="1828800"/>
            <a:ext cx="365760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453128" y="1828800"/>
            <a:ext cx="73152" cy="42062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647688" y="1828800"/>
            <a:ext cx="1371600" cy="292608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47688" y="182880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727448" y="20574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727448" y="260604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$14</a:t>
            </a:r>
            <a:endParaRPr lang="en-US" sz="5000" dirty="0"/>
          </a:p>
        </p:txBody>
      </p:sp>
      <p:sp>
        <p:nvSpPr>
          <p:cNvPr id="17" name="Text 15"/>
          <p:cNvSpPr/>
          <p:nvPr/>
        </p:nvSpPr>
        <p:spPr>
          <a:xfrm>
            <a:off x="4727448" y="33832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month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27448" y="3703320"/>
            <a:ext cx="3108960" cy="0"/>
          </a:xfrm>
          <a:prstGeom prst="line">
            <a:avLst/>
          </a:prstGeom>
          <a:noFill/>
          <a:ln w="9525">
            <a:solidFill>
              <a:srgbClr val="DDE2E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18888" y="3840480"/>
            <a:ext cx="3108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daily matches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cover letter (unlimited)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resume tailoring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interview prep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job tracker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357616" y="1828800"/>
            <a:ext cx="3657600" cy="4206240"/>
          </a:xfrm>
          <a:prstGeom prst="rect">
            <a:avLst/>
          </a:prstGeom>
          <a:solidFill>
            <a:srgbClr val="1E2761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357616" y="1828800"/>
            <a:ext cx="73152" cy="4206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31936" y="20574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 Annual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631936" y="260604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9D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$99</a:t>
            </a:r>
            <a:endParaRPr lang="en-US" sz="5000" dirty="0"/>
          </a:p>
        </p:txBody>
      </p:sp>
      <p:sp>
        <p:nvSpPr>
          <p:cNvPr id="24" name="Text 22"/>
          <p:cNvSpPr/>
          <p:nvPr/>
        </p:nvSpPr>
        <p:spPr>
          <a:xfrm>
            <a:off x="8631936" y="33832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6B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year — save 41%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631936" y="3703320"/>
            <a:ext cx="3108960" cy="0"/>
          </a:xfrm>
          <a:prstGeom prst="line">
            <a:avLst/>
          </a:prstGeom>
          <a:noFill/>
          <a:ln w="9525">
            <a:solidFill>
              <a:srgbClr val="2A357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723376" y="3840480"/>
            <a:ext cx="3108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Pro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email support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access to new tools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Locks in current pricing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48640" y="6172200"/>
            <a:ext cx="11091672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7240" y="617220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$14:  3-4× margin over cost  ·  undercuts Teal feature-for-feature  ·  consumer-friendly ($9-15 sweet spot)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DDE2E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Hireschema · Internal · Business review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365992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· BREAK-EVEN ANALYSIS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 $14/mo Pro, we cover fixed costs at ~15 paying users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6517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783080"/>
            <a:ext cx="73152" cy="137160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8745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~$11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31520" y="2606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/ Pro user / mo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56432" y="1783080"/>
            <a:ext cx="26517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456432" y="1783080"/>
            <a:ext cx="73152" cy="1371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39312" y="18745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~$150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3639312" y="2606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costs / mo (early)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364224" y="1783080"/>
            <a:ext cx="26517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364224" y="1783080"/>
            <a:ext cx="73152" cy="1371600"/>
          </a:xfrm>
          <a:prstGeom prst="rect">
            <a:avLst/>
          </a:prstGeom>
          <a:solidFill>
            <a:srgbClr val="1E9E6A"/>
          </a:solidFill>
          <a:ln w="12700">
            <a:solidFill>
              <a:srgbClr val="1E9E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47104" y="18745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9E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~15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6547104" y="2606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users to break even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272016" y="1783080"/>
            <a:ext cx="26517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272016" y="1783080"/>
            <a:ext cx="73152" cy="1371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54896" y="18745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~100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9454896" y="2606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users → $1K MRR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33832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REVENUE &amp; PROFIT BY USER COUNT</a:t>
            </a:r>
            <a:endParaRPr lang="en-US" sz="10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548640" y="3657600"/>
          <a:ext cx="11091672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548640" y="6035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Assumes Pro at $14/mo, ~$3 blended infra cost per Pro user. Fixed costs scale step-wise: see next slide.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DDE2E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Hireschema · Internal · Business review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365992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· SCALING COST CLIFFS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we leave each free tier and what it costs</a:t>
            </a:r>
            <a:endParaRPr lang="en-US" sz="3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00400"/>
                <a:gridCol w="3108960"/>
                <a:gridCol w="2953512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tier ceiling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paid step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Trigger to upgrade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Actions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2,000 min / mo  ≈ 250 Pro users at 2 cron runs / day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Self-hosted runner $5–20/mo  ·  GitHub Team $4/seat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 of free quota used 2 months in a row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Vercel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Hobby: 100 GB bandwidth / mo  ≈ 5,000 active users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Vercel Pro $20/mo per seat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Bandwidth &gt; 80 GB or function timeouts spiking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Firebase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Spark: 50K reads + 20K writes / day  ≈ 600 active users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Blaze plan, scales with usage  ·  ~$50–200/mo at 5K users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 or write quota hit 70% by mid-month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Apify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$5/mo credit  ≈ 10 Pro users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Personal $49/mo (~200 users)  ·  Team $499/mo (~2,000 users)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Will hit immediately at launch — budget from day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OpenRouter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Pay-as-you-go from $0 — no free credit, but no minimum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2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token cost — scales linearly with users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Track per-user token budget; cap if a user exceeds 10× median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852160"/>
            <a:ext cx="11091672" cy="502920"/>
          </a:xfrm>
          <a:prstGeom prst="rect">
            <a:avLst/>
          </a:prstGeom>
          <a:solidFill>
            <a:srgbClr val="EEF1F8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5852160"/>
            <a:ext cx="73152" cy="5029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585216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sequence: launch with Apify Personal ($49) + everything else free → graduate Firebase first (~600 users) → GitHub runner second (~250 Pro users) → Vercel last.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DDE2E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Hireschema · Internal · Business review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365992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· RISKS &amp; MITIGATIONS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kills this if we are not paying attention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0352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783080"/>
            <a:ext cx="73152" cy="201168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9202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01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" y="22402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Apify quota or pricing changes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274320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Build a second source (LinkedIn Jobs, RemoteOK, WeWorkRemotely scraper) as cold-swap backup. Architecture already supports multiple discovery actors.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099048" y="1783080"/>
            <a:ext cx="530352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099048" y="1783080"/>
            <a:ext cx="73152" cy="201168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73368" y="19202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02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373368" y="22402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 free Actions ceiling at 2,000 min/mo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373368" y="274320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Monitor monthly usage; budget Team ($4/seat) or self-hosted runner around the 200-user mark. Catch-up cron lets us reduce primary frequency if needed.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977640"/>
            <a:ext cx="530352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3977640"/>
            <a:ext cx="73152" cy="201168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1148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03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22960" y="44348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cost volatility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22960" y="493776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Per-user monthly token budget enforced server-side. Auto-fallback to deterministic-only scoring if budget exceeded. Models are swappable via OpenRouter.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99048" y="3977640"/>
            <a:ext cx="530352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099048" y="3977640"/>
            <a:ext cx="73152" cy="201168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73368" y="41148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04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373368" y="44348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Match quality complaints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373368" y="493776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Weekly retro on dismiss / save / applied signals. AI scoring prompt is versioned. Per-company dedup tunable; prompt overrideable per career path family.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DDE2E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Hireschema · Internal · Business review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365992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· 90-DAY ROADMAP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launch to first 100 Pro users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657600" cy="42976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783080"/>
            <a:ext cx="73152" cy="429768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9659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 – 30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" y="22860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Launch &amp; instrument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2788920"/>
            <a:ext cx="640080" cy="0"/>
          </a:xfrm>
          <a:prstGeom prst="line">
            <a:avLst/>
          </a:prstGeom>
          <a:noFill/>
          <a:ln w="25400">
            <a:solidFill>
              <a:srgbClr val="F9616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017520"/>
            <a:ext cx="31089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Pro pricing at $14/mo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cost telemetry per user (Apify + LLM tokens)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paying-user target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Early-access list → friends, ex-coworkers, comm groups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53128" y="1783080"/>
            <a:ext cx="3657600" cy="42976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453128" y="1783080"/>
            <a:ext cx="73152" cy="42976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27448" y="19659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31 – 60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727448" y="22860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distribution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727448" y="2788920"/>
            <a:ext cx="6400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18888" y="3017520"/>
            <a:ext cx="31089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second job source (LinkedIn or RemoteOK) for resilience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 program: 1 free month per converted referral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Hunt launch with 200 pre-registered upvoters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paying-user target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357616" y="1783080"/>
            <a:ext cx="3657600" cy="42976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57616" y="1783080"/>
            <a:ext cx="73152" cy="4297680"/>
          </a:xfrm>
          <a:prstGeom prst="rect">
            <a:avLst/>
          </a:prstGeom>
          <a:solidFill>
            <a:srgbClr val="1E9E6A"/>
          </a:solidFill>
          <a:ln w="12700">
            <a:solidFill>
              <a:srgbClr val="1E9E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31936" y="19659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E9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61 – 90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631936" y="22860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 &amp; B2B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8631936" y="2788920"/>
            <a:ext cx="640080" cy="0"/>
          </a:xfrm>
          <a:prstGeom prst="line">
            <a:avLst/>
          </a:prstGeom>
          <a:noFill/>
          <a:ln w="25400">
            <a:solidFill>
              <a:srgbClr val="1E9E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723376" y="3017520"/>
            <a:ext cx="31089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 coaches, bootcamps, layoff support orgs (B2B2C)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plan promo (40% off launch window)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self-hosted GitHub runner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paying-user target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DDE2E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Hireschema · Internal · Business review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65992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· PARTNER ASK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2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are deciding together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0352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783080"/>
            <a:ext cx="73152" cy="19202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9659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CAPITAL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2423160"/>
            <a:ext cx="548640" cy="0"/>
          </a:xfrm>
          <a:prstGeom prst="line">
            <a:avLst/>
          </a:prstGeom>
          <a:noFill/>
          <a:ln w="25400">
            <a:solidFill>
              <a:srgbClr val="F9616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56032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runway for Apify + ad budget. Recommended: $______ for the first 90 days.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099048" y="1783080"/>
            <a:ext cx="530352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099048" y="1783080"/>
            <a:ext cx="73152" cy="19202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73368" y="19659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373368" y="2423160"/>
            <a:ext cx="548640" cy="0"/>
          </a:xfrm>
          <a:prstGeom prst="line">
            <a:avLst/>
          </a:prstGeom>
          <a:noFill/>
          <a:ln w="25400">
            <a:solidFill>
              <a:srgbClr val="F9616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56032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weekly commitment. Recommended: ____ hrs/week, focused on ____________.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886200"/>
            <a:ext cx="530352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3886200"/>
            <a:ext cx="73152" cy="19202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069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DISTRIBUTION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22960" y="4526280"/>
            <a:ext cx="548640" cy="0"/>
          </a:xfrm>
          <a:prstGeom prst="line">
            <a:avLst/>
          </a:prstGeom>
          <a:noFill/>
          <a:ln w="25400">
            <a:solidFill>
              <a:srgbClr val="F9616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66344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access — career coaches, bootcamps, hiring communities, LinkedIn audience reach.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099048" y="3886200"/>
            <a:ext cx="530352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4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099048" y="3886200"/>
            <a:ext cx="73152" cy="19202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73368" y="4069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SALES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373368" y="4526280"/>
            <a:ext cx="548640" cy="0"/>
          </a:xfrm>
          <a:prstGeom prst="line">
            <a:avLst/>
          </a:prstGeom>
          <a:noFill/>
          <a:ln w="25400">
            <a:solidFill>
              <a:srgbClr val="F9616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73368" y="466344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B2B2C lead conversion (career coaches / bootcamps). Recommended: pilot with __ orgs by Day 60.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59893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to discuss: equity split  ·  decision rights  ·  vesting schedule  ·  exit terms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DDE2E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Hireschema · Internal · Business review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365992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218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you.</a:t>
            </a:r>
            <a:endParaRPr lang="en-US" sz="8400" dirty="0"/>
          </a:p>
        </p:txBody>
      </p:sp>
      <p:sp>
        <p:nvSpPr>
          <p:cNvPr id="3" name="Shape 1"/>
          <p:cNvSpPr/>
          <p:nvPr/>
        </p:nvSpPr>
        <p:spPr>
          <a:xfrm>
            <a:off x="731520" y="3108960"/>
            <a:ext cx="1371600" cy="0"/>
          </a:xfrm>
          <a:prstGeom prst="line">
            <a:avLst/>
          </a:prstGeom>
          <a:noFill/>
          <a:ln w="381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3291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9D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answers to leave with today: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3840480"/>
            <a:ext cx="10058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1.  Pricing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C7CFE6"/>
                </a:solidFill>
              </a:rPr>
              <a:t>      Lock $14/mo Pro and $99/yr annual?</a:t>
            </a:r>
            <a:endParaRPr lang="en-US" sz="16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2.  Costs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C7CFE6"/>
                </a:solidFill>
              </a:rPr>
              <a:t>      Confirm the $2.50–$5 / Pro user / month basis is acceptable margin?</a:t>
            </a:r>
            <a:endParaRPr lang="en-US" sz="16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3.  Break-even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C7CFE6"/>
                </a:solidFill>
              </a:rPr>
              <a:t>      Agree on 15-Pro-user break-even and 100-Pro-user 30-day target?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9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Hireschema  ·  hireschema.com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365992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E9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Hireschema Business Presentation</dc:title>
  <dc:subject>Pricing &amp; unit economics review</dc:subject>
  <dc:creator>Hireschema</dc:creator>
  <cp:lastModifiedBy>Hireschema</cp:lastModifiedBy>
  <cp:revision>1</cp:revision>
  <dcterms:created xsi:type="dcterms:W3CDTF">2026-05-10T15:13:49Z</dcterms:created>
  <dcterms:modified xsi:type="dcterms:W3CDTF">2026-05-10T15:13:49Z</dcterms:modified>
</cp:coreProperties>
</file>