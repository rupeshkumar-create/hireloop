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AI-POWERED DAILY JOB MATCHING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Hireschema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Scout that finds your next role — every morning.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4023360"/>
            <a:ext cx="10972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BUSINESS OVERVIEW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Confidential ·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search is broken at three layers.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743200" cy="274320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" cy="2743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VOLUME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250M+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8580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jobs posted yearly. Candidates see ~50/day, ignore 90% of them.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828800"/>
            <a:ext cx="2743200" cy="274320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828800"/>
            <a:ext cx="73152" cy="2743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NOISE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356616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 "remote" roles are silently region-restricted or hybrid in disguise.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828800"/>
            <a:ext cx="2743200" cy="274320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828800"/>
            <a:ext cx="73152" cy="2743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4652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FRICTION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5+ hrs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44652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 week researching jobs before a single application is even written.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759452"/>
            <a:ext cx="8229600" cy="10973"/>
          </a:xfrm>
          <a:prstGeom prst="rect">
            <a:avLst/>
          </a:prstGeom>
          <a:solidFill>
            <a:srgbClr val="2D3B5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HIRESCHEMA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Scout that runs your job search overnight.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morning, Hireschema delivers a short list of high-fit, region-eligible, ranked roles — already filtered, scored, and enriched with the tools you need to apply.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057400" cy="1737360"/>
          </a:xfrm>
          <a:prstGeom prst="rect">
            <a:avLst/>
          </a:prstGeom>
          <a:solidFill>
            <a:srgbClr val="111B2E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97180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429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 MATCHES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37033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high-fit roles delivered by 7 AM local time.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2743200"/>
            <a:ext cx="2057400" cy="1737360"/>
          </a:xfrm>
          <a:prstGeom prst="rect">
            <a:avLst/>
          </a:prstGeom>
          <a:solidFill>
            <a:srgbClr val="111B2E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0360" y="297180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288036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80360" y="3429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REGION-AWARE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80360" y="37033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more "Remote — US only" jobs in an India inbox.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743200"/>
            <a:ext cx="2057400" cy="1737360"/>
          </a:xfrm>
          <a:prstGeom prst="rect">
            <a:avLst/>
          </a:prstGeom>
          <a:solidFill>
            <a:srgbClr val="111B2E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4920" y="297180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3429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LEARNS FROM YOU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4920" y="37033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save, dismiss, and apply tunes tomorrow.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40880" y="2743200"/>
            <a:ext cx="2057400" cy="1737360"/>
          </a:xfrm>
          <a:prstGeom prst="rect">
            <a:avLst/>
          </a:prstGeom>
          <a:solidFill>
            <a:srgbClr val="111B2E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69480" y="297180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726948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69480" y="3429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COPILOT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69480" y="37033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Tailor resume, draft cold email, prep interview, check salary — all in one click.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759452"/>
            <a:ext cx="8229600" cy="10973"/>
          </a:xfrm>
          <a:prstGeom prst="rect">
            <a:avLst/>
          </a:prstGeom>
          <a:solidFill>
            <a:srgbClr val="2D3B5B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HIRESCHEMA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user actually gets.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023360" cy="141732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73152" cy="1417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105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 MATCHES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/ day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Ranked, deduped, region-aware. Email + dashboard.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645920"/>
            <a:ext cx="4023360" cy="141732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645920"/>
            <a:ext cx="73152" cy="1417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8105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COPILOT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2057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actions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92040" y="2560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Cold email · Tailored resume · Interview prep · Salary data.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4023360" cy="141732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46120"/>
            <a:ext cx="73152" cy="1417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4107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TRACKER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657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states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Saved → Applied → Interviewing → Offered → Rejected.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246120"/>
            <a:ext cx="4023360" cy="141732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246120"/>
            <a:ext cx="73152" cy="1417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4107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EXPORTS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3657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 · DOCX · Markdown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92040" y="4160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Tailored resume in any format. Gmail compose with one click.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759452"/>
            <a:ext cx="8229600" cy="10973"/>
          </a:xfrm>
          <a:prstGeom prst="rect">
            <a:avLst/>
          </a:prstGeom>
          <a:solidFill>
            <a:srgbClr val="2D3B5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HIRESCHEMA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signup to your next offer.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764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0756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Google OAuth · upload your resume.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06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26883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 extracted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9992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summarises skills, suggests career paths.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30168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3611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Scout runs daily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92277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web search at 7 AM local timezone.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20640" y="178308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806440" y="1764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matches delivered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06440" y="20756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 + dashboard — ranked, enriched, ready.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20640" y="2706624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2706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806440" y="26883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act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06440" y="29992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Save · apply · ignore. AI helps with each.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20640" y="3630168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806440" y="3611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 learns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806440" y="392277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Tomorrow's matches get sharper. Compound effect.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759452"/>
            <a:ext cx="8229600" cy="10973"/>
          </a:xfrm>
          <a:prstGeom prst="rect">
            <a:avLst/>
          </a:prstGeom>
          <a:solidFill>
            <a:srgbClr val="2D3B5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HIRESCHEMA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JOB ENGINE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Strict pipeline. No stage may compensate for another.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Defined in JOB_ENGINE_FLOW.md and enforced by code. Every job must pass deterministic validation before AI scoring ever runs.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1600200" cy="86868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651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8529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1272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Query generation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 rot="5400000">
            <a:off x="2039112" y="2921508"/>
            <a:ext cx="118872" cy="146304"/>
          </a:xfrm>
          <a:prstGeom prst="rtTriangle">
            <a:avLst/>
          </a:prstGeom>
          <a:solidFill>
            <a:srgbClr val="F97316"/>
          </a:solidFill>
          <a:ln/>
        </p:spPr>
      </p:sp>
      <p:sp>
        <p:nvSpPr>
          <p:cNvPr id="11" name="Shape 9"/>
          <p:cNvSpPr/>
          <p:nvPr/>
        </p:nvSpPr>
        <p:spPr>
          <a:xfrm>
            <a:off x="2167128" y="2560320"/>
            <a:ext cx="1600200" cy="86868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04288" y="2651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04288" y="28529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Harvester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04288" y="31272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ATS + web search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 rot="5400000">
            <a:off x="3749040" y="2921508"/>
            <a:ext cx="118872" cy="146304"/>
          </a:xfrm>
          <a:prstGeom prst="rtTriangle">
            <a:avLst/>
          </a:prstGeom>
          <a:solidFill>
            <a:srgbClr val="F97316"/>
          </a:solidFill>
          <a:ln/>
        </p:spPr>
      </p:sp>
      <p:sp>
        <p:nvSpPr>
          <p:cNvPr id="16" name="Shape 14"/>
          <p:cNvSpPr/>
          <p:nvPr/>
        </p:nvSpPr>
        <p:spPr>
          <a:xfrm>
            <a:off x="3877056" y="2560320"/>
            <a:ext cx="1600200" cy="86868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14216" y="2651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14216" y="28529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Deduplicate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14216" y="31272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title::company fingerprint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rot="5400000">
            <a:off x="5458968" y="2921508"/>
            <a:ext cx="118872" cy="146304"/>
          </a:xfrm>
          <a:prstGeom prst="rtTriangle">
            <a:avLst/>
          </a:prstGeom>
          <a:solidFill>
            <a:srgbClr val="F97316"/>
          </a:solidFill>
          <a:ln/>
        </p:spPr>
      </p:sp>
      <p:sp>
        <p:nvSpPr>
          <p:cNvPr id="21" name="Shape 19"/>
          <p:cNvSpPr/>
          <p:nvPr/>
        </p:nvSpPr>
        <p:spPr>
          <a:xfrm>
            <a:off x="5586984" y="2560320"/>
            <a:ext cx="1600200" cy="86868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24144" y="2651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24144" y="28529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24144" y="31272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Remote · region · salary · freshness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 rot="5400000">
            <a:off x="7168896" y="2921508"/>
            <a:ext cx="118872" cy="146304"/>
          </a:xfrm>
          <a:prstGeom prst="rtTriangle">
            <a:avLst/>
          </a:prstGeom>
          <a:solidFill>
            <a:srgbClr val="F97316"/>
          </a:solidFill>
          <a:ln/>
        </p:spPr>
      </p:sp>
      <p:sp>
        <p:nvSpPr>
          <p:cNvPr id="26" name="Shape 24"/>
          <p:cNvSpPr/>
          <p:nvPr/>
        </p:nvSpPr>
        <p:spPr>
          <a:xfrm>
            <a:off x="7296912" y="2560320"/>
            <a:ext cx="1600200" cy="86868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34072" y="2651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34072" y="28529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Score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34072" y="31272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Gemini ranks resume fit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886200"/>
            <a:ext cx="1600200" cy="86868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9776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41788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Enrichment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4360" y="44531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Reasons · gaps · summary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 rot="5400000">
            <a:off x="2039112" y="4247388"/>
            <a:ext cx="118872" cy="146304"/>
          </a:xfrm>
          <a:prstGeom prst="rtTriangle">
            <a:avLst/>
          </a:prstGeom>
          <a:solidFill>
            <a:srgbClr val="F97316"/>
          </a:solidFill>
          <a:ln/>
        </p:spPr>
      </p:sp>
      <p:sp>
        <p:nvSpPr>
          <p:cNvPr id="35" name="Shape 33"/>
          <p:cNvSpPr/>
          <p:nvPr/>
        </p:nvSpPr>
        <p:spPr>
          <a:xfrm>
            <a:off x="2167128" y="3886200"/>
            <a:ext cx="1600200" cy="86868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04288" y="39776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304288" y="41788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Score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304288" y="44531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Match × freshness × quality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 rot="5400000">
            <a:off x="3749040" y="4247388"/>
            <a:ext cx="118872" cy="146304"/>
          </a:xfrm>
          <a:prstGeom prst="rtTriangle">
            <a:avLst/>
          </a:prstGeom>
          <a:solidFill>
            <a:srgbClr val="F97316"/>
          </a:solidFill>
          <a:ln/>
        </p:spPr>
      </p:sp>
      <p:sp>
        <p:nvSpPr>
          <p:cNvPr id="40" name="Shape 38"/>
          <p:cNvSpPr/>
          <p:nvPr/>
        </p:nvSpPr>
        <p:spPr>
          <a:xfrm>
            <a:off x="3877056" y="3886200"/>
            <a:ext cx="1600200" cy="86868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14216" y="39776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014216" y="41788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014216" y="44531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Plan-capped top 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 rot="5400000">
            <a:off x="5458968" y="4247388"/>
            <a:ext cx="118872" cy="146304"/>
          </a:xfrm>
          <a:prstGeom prst="rtTriangle">
            <a:avLst/>
          </a:prstGeom>
          <a:solidFill>
            <a:srgbClr val="F97316"/>
          </a:solidFill>
          <a:ln/>
        </p:spPr>
      </p:sp>
      <p:sp>
        <p:nvSpPr>
          <p:cNvPr id="45" name="Shape 43"/>
          <p:cNvSpPr/>
          <p:nvPr/>
        </p:nvSpPr>
        <p:spPr>
          <a:xfrm>
            <a:off x="5586984" y="3886200"/>
            <a:ext cx="1600200" cy="86868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24144" y="39776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724144" y="41788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724144" y="44531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Firestore daily_matches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 rot="5400000">
            <a:off x="7168896" y="4247388"/>
            <a:ext cx="118872" cy="146304"/>
          </a:xfrm>
          <a:prstGeom prst="rtTriangle">
            <a:avLst/>
          </a:prstGeom>
          <a:solidFill>
            <a:srgbClr val="F97316"/>
          </a:solidFill>
          <a:ln/>
        </p:spPr>
      </p:sp>
      <p:sp>
        <p:nvSpPr>
          <p:cNvPr id="50" name="Shape 48"/>
          <p:cNvSpPr/>
          <p:nvPr/>
        </p:nvSpPr>
        <p:spPr>
          <a:xfrm>
            <a:off x="7296912" y="3886200"/>
            <a:ext cx="1600200" cy="86868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34072" y="39776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434072" y="41788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434072" y="44531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 + dashboard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4759452"/>
            <a:ext cx="8229600" cy="10973"/>
          </a:xfrm>
          <a:prstGeom prst="rect">
            <a:avLst/>
          </a:prstGeom>
          <a:solidFill>
            <a:srgbClr val="2D3B5B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HIRESCHEMA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9436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tiers, one AI gateway.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743200" cy="210312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" cy="21031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Dashboard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React 19 + 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Vite + Tailwind v4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Firebase Auth (Google OAuth)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Reads daily_matches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828800"/>
            <a:ext cx="2743200" cy="210312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828800"/>
            <a:ext cx="73152" cy="21031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6616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Vercel Functions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27432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Cron: daily-alerts → process-user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On-demand: /api/jobs/trigger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Admin: users + ghost mode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OpenRouter proxy via /api/openai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2743200" cy="210312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828800"/>
            <a:ext cx="73152" cy="21031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STORAGE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Firestore + Auth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6520" y="27432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users/{uid} (profile + signals)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daily_matches/{YYYY-MM-DD}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trackedJobs (5 states)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admin_logs + cronRuns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2011680" cy="502920"/>
          </a:xfrm>
          <a:prstGeom prst="rect">
            <a:avLst/>
          </a:prstGeom>
          <a:solidFill>
            <a:srgbClr val="111B2E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2153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GATEWAY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" y="43982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OpenRouter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06040" y="4160520"/>
            <a:ext cx="2011680" cy="502920"/>
          </a:xfrm>
          <a:prstGeom prst="rect">
            <a:avLst/>
          </a:prstGeom>
          <a:solidFill>
            <a:srgbClr val="111B2E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42153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43200" y="43982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Resend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4160520"/>
            <a:ext cx="2011680" cy="502920"/>
          </a:xfrm>
          <a:prstGeom prst="rect">
            <a:avLst/>
          </a:prstGeom>
          <a:solidFill>
            <a:srgbClr val="111B2E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42153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WEB SEARCH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92040" y="43982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Perplexity + Gemini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03720" y="4160520"/>
            <a:ext cx="2011680" cy="502920"/>
          </a:xfrm>
          <a:prstGeom prst="rect">
            <a:avLst/>
          </a:prstGeom>
          <a:solidFill>
            <a:srgbClr val="111B2E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42153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ATS DIRECT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040880" y="43982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Greenhouse + Lever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759452"/>
            <a:ext cx="8229600" cy="10973"/>
          </a:xfrm>
          <a:prstGeom prst="rect">
            <a:avLst/>
          </a:prstGeom>
          <a:solidFill>
            <a:srgbClr val="2D3B5B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HIRESCHEMA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MODEL ROUTING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model for each job. All proxied via OpenRouter.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Cost-optimised: cheap models for high-volume structured tasks; premium models reserved for user-facing writing.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31089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TASK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MODEL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WHY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Query generation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gpt-4o-mini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Cheap, fast structured output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Job scoring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gpt-4o-mini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Batch-friendly, low cost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Resume summary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gemini-pro-1.5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Long-context reasoning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Resume extraction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gpt-4o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High-fidelity JSON schema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Email + resume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claude-3.5-sonnet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Tone + grounding for user-facing writing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Interview + salary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claude-3.5-sonnet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Coaching-quality output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759452"/>
            <a:ext cx="8229600" cy="10973"/>
          </a:xfrm>
          <a:prstGeom prst="rect">
            <a:avLst/>
          </a:prstGeom>
          <a:solidFill>
            <a:srgbClr val="2D3B5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HIRESCHEMA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436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Boring tools where boring is best. Modern where it matters.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114800" cy="132588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73152" cy="1325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47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FRONTEND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React 19   ·   TypeScript   ·   Vite   ·   Tailwind v4   ·   Shadcn/ui   ·   React Router v7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783080"/>
            <a:ext cx="4114800" cy="132588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783080"/>
            <a:ext cx="73152" cy="1325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947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83480" y="22860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Vercel Functions   ·   Firebase Admin   ·   Express (dev)   ·   TypeScript end-to-end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4114800" cy="132588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91840"/>
            <a:ext cx="73152" cy="1325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456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/ DATA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794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OpenRouter   ·   OpenAI SDK   ·   Firestore   ·   Firebase Auth   ·   Resend   ·   Apify (sourcing)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291840"/>
            <a:ext cx="4114800" cy="132588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3291840"/>
            <a:ext cx="73152" cy="1325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456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TOOLING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3794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Vitest (139 tests)   ·   tsc strict   ·   html2pdf.js   ·   docx   ·   pdfjs-dist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759452"/>
            <a:ext cx="8229600" cy="10973"/>
          </a:xfrm>
          <a:prstGeom prst="rect">
            <a:avLst/>
          </a:prstGeom>
          <a:solidFill>
            <a:srgbClr val="2D3B5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HIRESCHEMA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IT WINS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invariants competitors break every day.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114800" cy="132588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11680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039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FAKE JOBS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23317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listing is sourced from live web search. No synthetic content, no padded inventory.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783080"/>
            <a:ext cx="4114800" cy="132588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83480" y="2011680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2039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REGION-AWARE REMOTE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23317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"Remote — US only" is filtered out for non-US users. Timezone is the truth signal.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4114800" cy="132588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520440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547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ANTI-SLOP 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38404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"I am excited to apply" emails. Anti-slop validation rejects generic AI output.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291840"/>
            <a:ext cx="4114800" cy="132588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83480" y="3520440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3547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LEARNING LOOP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38404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save, dismiss, click feeds back into Scout. The product improves with use.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759452"/>
            <a:ext cx="8229600" cy="10973"/>
          </a:xfrm>
          <a:prstGeom prst="rect">
            <a:avLst/>
          </a:prstGeom>
          <a:solidFill>
            <a:srgbClr val="2D3B5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HIRESCHEMA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UNIT ECONOMICS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per Pro user, per month.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Estimated from current architecture. Pending real-traffic validation.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47548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463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COMPONENT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COST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OpenRouter (AI inference)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$3.00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Apify (web scraping)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$0.10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Vercel (functions + edge)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$0.10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Firestore + Auth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$0.05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Resend (email)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$0.01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TOTAL COGS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$3.26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0" y="2148840"/>
            <a:ext cx="3200400" cy="128016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0" y="2148840"/>
            <a:ext cx="73152" cy="1280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0" y="23134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FREE TIER COGS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15000" y="2560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~$0.30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71500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match/day, no premium AI tools triggered.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0" y="3566160"/>
            <a:ext cx="3200400" cy="128016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0" y="3566160"/>
            <a:ext cx="73152" cy="1280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0" y="3730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 GROSS MARGIN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15000" y="3977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~83%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571500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 $19/mo Pro pricing. Beats most B2C SaaS.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4759452"/>
            <a:ext cx="8229600" cy="10973"/>
          </a:xfrm>
          <a:prstGeom prst="rect">
            <a:avLst/>
          </a:prstGeom>
          <a:solidFill>
            <a:srgbClr val="2D3B5B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HIRESCHEMA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9436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PRICING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tiers. Free leads to Pro. Pro leads to Team.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743200" cy="3017520"/>
          </a:xfrm>
          <a:prstGeom prst="rect">
            <a:avLst/>
          </a:prstGeom>
          <a:solidFill>
            <a:srgbClr val="111B2E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forever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match per day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Basic AI Copilot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tracker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region filtering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691640"/>
            <a:ext cx="2743200" cy="301752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691640"/>
            <a:ext cx="73152" cy="3017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1691640"/>
            <a:ext cx="2743200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B12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2331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356616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3337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matches per day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 AI Copilot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Region-aware sourcing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Learning loop 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Unlimited tracker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PDF/DOCX exports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691640"/>
            <a:ext cx="2743200" cy="3017520"/>
          </a:xfrm>
          <a:prstGeom prst="rect">
            <a:avLst/>
          </a:prstGeom>
          <a:solidFill>
            <a:srgbClr val="111B2E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$79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644652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 seat / month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31546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Recruiter / talent-pool tools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Shared tracker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Bulk outreach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Analytics + reporting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SLA + priority support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ANNUAL DISCOUNT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$190 / year — pay 10 months, get 12. ~17% off.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759452"/>
            <a:ext cx="8229600" cy="10973"/>
          </a:xfrm>
          <a:prstGeom prst="rect">
            <a:avLst/>
          </a:prstGeom>
          <a:solidFill>
            <a:srgbClr val="2D3B5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HIRESCHEMA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scale looks like.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 tier at $19/mo, ~83% gross margin. Assumes Free→Pro conversion of 3–5%.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743200" cy="219456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94560"/>
            <a:ext cx="73152" cy="2194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1,000 PRO USERS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MRR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$19K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3520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COGS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$3.3K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39776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GROSS PROFIT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4142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$15.7K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37560" y="2194560"/>
            <a:ext cx="2743200" cy="219456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2194560"/>
            <a:ext cx="73152" cy="2194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10,000 PRO USERS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7432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MRR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6616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$190K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566160" y="3520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COGS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6616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$33K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66160" y="39776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GROSS PROFIT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66160" y="4142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$157K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7920" y="2194560"/>
            <a:ext cx="2743200" cy="219456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2194560"/>
            <a:ext cx="73152" cy="2194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100,000 PRO USERS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27432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MRR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652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$1.9M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446520" y="3520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COGS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4652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$330K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46520" y="39776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GROSS PROFIT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46520" y="4142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$1.57M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7200" y="4759452"/>
            <a:ext cx="8229600" cy="10973"/>
          </a:xfrm>
          <a:prstGeom prst="rect">
            <a:avLst/>
          </a:prstGeom>
          <a:solidFill>
            <a:srgbClr val="2D3B5B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HIRESCHEMA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PRICING RATIONALE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$19 / month is the right Pro anchor.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5029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PRODUCT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PRICE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POSITION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LinkedIn Premium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$39.99 / mo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Ceiling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Teal+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$29 / mo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Tracker-led peer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Final Round AI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$29 / mo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AI interview niche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Huntr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$16 / mo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Floor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HIRESCHEMA PRO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$19 / mo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Best ratio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$19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60720" y="214884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Below LinkedIn Premium — no friction switching from "professional tool" budget.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Above pure trackers (Huntr) — justifies AI Copilot premium.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Round number reads as "small monthly habit."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 ~83% gross margin, supports paid acquisition up to ~$60 CAC.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Annual at $190 anchors retention and amortises COGS spikes.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LAUNCH LADDER 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$15 intro (first 100) → $19 standard → $29 power tier with auto-apply (2027).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759452"/>
            <a:ext cx="8229600" cy="10973"/>
          </a:xfrm>
          <a:prstGeom prst="rect">
            <a:avLst/>
          </a:prstGeom>
          <a:solidFill>
            <a:srgbClr val="2D3B5B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HIRESCHEMA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Shipped. Next. Later.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743200" cy="301752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274320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B12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SHIPPED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 AI matches (10/day Pro)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Copilot (email · resume · interview · salary)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Region-aware remote filter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tracker + saved jobs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Anti-slop validation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PDF / DOCX / Markdown exports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2743200" cy="301752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737360"/>
            <a:ext cx="2743200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B12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 — Q3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224028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Scout query bias for non-US users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Recruiter contact extraction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Auto-follow-up sequences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Salary negotiation coach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Mobile-first PWA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2743200" cy="301752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737360"/>
            <a:ext cx="2743200" cy="2743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B12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LATER — 2027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46520" y="224028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One-click auto-apply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 / recruiter tier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Multi-region sourcing (EMEA, APAC)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Referral graph (warm intros)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Embedded coach (1:1 calls)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759452"/>
            <a:ext cx="8229600" cy="10973"/>
          </a:xfrm>
          <a:prstGeom prst="rect">
            <a:avLst/>
          </a:prstGeom>
          <a:solidFill>
            <a:srgbClr val="2D3B5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HIRESCHEMA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0" y="48508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Built. Tested.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find users.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2651760" cy="109728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38328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139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68680" y="38587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Tests passing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3200400"/>
            <a:ext cx="2651760" cy="109728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338328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703320" y="38587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Architecture docs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200400"/>
            <a:ext cx="2651760" cy="1097280"/>
          </a:xfrm>
          <a:prstGeom prst="rect">
            <a:avLst/>
          </a:prstGeom>
          <a:solidFill>
            <a:srgbClr val="17223A"/>
          </a:solidFill>
          <a:ln w="9525">
            <a:solidFill>
              <a:srgbClr val="1F2D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338328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~$3.30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537960" y="38587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COGS per Pro user / month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5034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hireschema.com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Hireschema — Business Overview</dc:title>
  <dc:subject>PptxGenJS Presentation</dc:subject>
  <dc:creator>Hireschema</dc:creator>
  <cp:lastModifiedBy>Hireschema</cp:lastModifiedBy>
  <cp:revision>1</cp:revision>
  <dcterms:created xsi:type="dcterms:W3CDTF">2026-05-13T07:01:05Z</dcterms:created>
  <dcterms:modified xsi:type="dcterms:W3CDTF">2026-05-13T07:01:05Z</dcterms:modified>
</cp:coreProperties>
</file>